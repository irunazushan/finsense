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969264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16212E"/>
                </a:solidFill>
                <a:latin typeface="Arial"/>
              </a:rPr>
              <a:t>Разработка и внедрение AI-агента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9509760" cy="53035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2363AB"/>
                </a:solidFill>
                <a:latin typeface="Arial"/>
              </a:rPr>
              <a:t>для оптимизации бизнес-процессов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48840"/>
            <a:ext cx="89611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5C6C7E"/>
                </a:solidFill>
                <a:latin typeface="Arial"/>
              </a:rPr>
              <a:t>Анализ существующих решений и разработка прототипа на базе Spring и Kotlin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6C7E"/>
                </a:solidFill>
                <a:latin typeface="Arial"/>
              </a:rPr>
              <a:t>Формат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6212E"/>
                </a:solidFill>
                <a:latin typeface="Arial"/>
              </a:rPr>
              <a:t>магистерская диссертация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3154680"/>
            <a:ext cx="2926080" cy="914400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6C7E"/>
                </a:solidFill>
                <a:latin typeface="Arial"/>
              </a:rPr>
              <a:t>Прототип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0F9488"/>
                </a:solidFill>
                <a:latin typeface="Arial"/>
              </a:rPr>
              <a:t>Spring + Kotlin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15468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6C7E"/>
                </a:solidFill>
                <a:latin typeface="Arial"/>
              </a:rPr>
              <a:t>Фокус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измеримый эффект процесса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83480"/>
            <a:ext cx="2514600" cy="749808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6212E"/>
                </a:solidFill>
                <a:latin typeface="Arial"/>
              </a:rPr>
              <a:t>Бизнес-процесс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5358384"/>
            <a:ext cx="77724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80560" y="4983480"/>
            <a:ext cx="2514600" cy="749808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6212E"/>
                </a:solidFill>
                <a:latin typeface="Arial"/>
              </a:rPr>
              <a:t>AI-агент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5358384"/>
            <a:ext cx="77724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46720" y="4983480"/>
            <a:ext cx="2514600" cy="749808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6212E"/>
                </a:solidFill>
                <a:latin typeface="Arial"/>
              </a:rPr>
              <a:t>Измеримый эффект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Актуальность и проблема исследования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53035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Почему нужен гибридный подход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бизнес-процессы включают типовые и неоднозначные операции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rule-based автоматизация эффективна только в заранее описанных сценариях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full LLM повышает гибкость, но увеличивает стоимость и задержки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практическая цель: улучшить измеримые параметры процесса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нужен баланс управляемости, адаптивности и реализуемости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417320" cy="512064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Подход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417320"/>
            <a:ext cx="1463040" cy="512064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Управляемость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417320"/>
            <a:ext cx="1508760" cy="512064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Гибкость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52759" y="1417320"/>
            <a:ext cx="1261872" cy="512064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Стоимость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9384"/>
            <a:ext cx="1417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Rule-based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929384"/>
            <a:ext cx="1463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высокая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929384"/>
            <a:ext cx="1508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низкая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52759" y="1929384"/>
            <a:ext cx="12618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низкая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441448"/>
            <a:ext cx="1417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Hybrid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441448"/>
            <a:ext cx="1463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средняя / высокая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441448"/>
            <a:ext cx="1508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средняя / высокая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52759" y="2441448"/>
            <a:ext cx="12618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умеренная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53512"/>
            <a:ext cx="1417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Full LLM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953512"/>
            <a:ext cx="1463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низкая / средняя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953512"/>
            <a:ext cx="1508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высокая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59" y="2953512"/>
            <a:ext cx="12618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980" b="0">
                <a:solidFill>
                  <a:srgbClr val="16212E"/>
                </a:solidFill>
                <a:latin typeface="Arial"/>
              </a:rPr>
              <a:t>высокая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069080"/>
            <a:ext cx="5230368" cy="1078992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363AB"/>
                </a:solidFill>
                <a:latin typeface="Arial"/>
              </a:rPr>
              <a:t>Исследовательская задача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встроить LLM только в сложный сегмент процесса, сохранив быстрый и контролируемый основной путь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Объект, предмет, цель, задачи и методы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1005840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363AB"/>
                </a:solidFill>
                <a:latin typeface="Arial"/>
              </a:rPr>
              <a:t>Объект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бизнес-процессы с классификацией и принятием решений при частичной неопределённости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74720" cy="1005840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F9488"/>
                </a:solidFill>
                <a:latin typeface="Arial"/>
              </a:rPr>
              <a:t>Предмет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архитектурные и программные подходы к LLM-агенту в event-driven процессе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063240" cy="1005840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BE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BE6F0F"/>
                </a:solidFill>
                <a:latin typeface="Arial"/>
              </a:rPr>
              <a:t>Методы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212E"/>
                </a:solidFill>
                <a:latin typeface="Arial"/>
              </a:rPr>
              <a:t>сравнительный анализ, проектирование, прототипирование, сценарное моделирование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4892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Цель исследования</a:t>
            </a:r>
          </a:p>
          <a:p>
            <a:pPr algn="l">
              <a:spcAft>
                <a:spcPts val="300"/>
              </a:spcAft>
            </a:pPr>
            <a:r>
              <a:rPr sz="1550" b="0">
                <a:solidFill>
                  <a:srgbClr val="16212E"/>
                </a:solidFill>
                <a:latin typeface="Arial"/>
              </a:rPr>
              <a:t>разработать и исследовать прототип AI-агента, встроенного в событийно-ориентированный бизнес-процесс</a:t>
            </a:r>
          </a:p>
          <a:p>
            <a:pPr algn="l">
              <a:spcAft>
                <a:spcPts val="300"/>
              </a:spcAft>
            </a:pPr>
            <a:r>
              <a:rPr sz="1450" b="1">
                <a:solidFill>
                  <a:srgbClr val="0F9488"/>
                </a:solidFill>
                <a:latin typeface="Arial"/>
              </a:rPr>
              <a:t>гибридный подход: rule-based логика + LLM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65176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Задачи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проанализировать подходы к AI-автоматизации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уточнить понятие AI-агента для backend-системы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разработать архитектуру прототипа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реализовать прототип на Spring + Kotlin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провести демонстрационную оценку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AI-агент в контексте работы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48920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Рабочее определение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программный компонент внутри бизнес-процесса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получает входное событие и контекст обработки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возвращает результат в машиночитаемой форме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не ограничивается диалоговым ответом, как чат-бот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применяется для случаев, не полностью покрытых правилами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417320"/>
            <a:ext cx="1645920" cy="475488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Подход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417320"/>
            <a:ext cx="2011680" cy="475488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Основная функция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1417320"/>
            <a:ext cx="1965960" cy="475488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Роль в работе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892808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Rule-based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8928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типовые случаи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892808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36829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Чат-бот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36829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диалог с пользователем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236829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не основной сценарий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843784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AI-агент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28437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решение внутри процесса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2843784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основной объект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297680"/>
            <a:ext cx="5230368" cy="896112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F9488"/>
                </a:solidFill>
                <a:latin typeface="Arial"/>
              </a:rPr>
              <a:t>Ключевой критерий</a:t>
            </a:r>
          </a:p>
          <a:p>
            <a:pPr algn="l">
              <a:spcAft>
                <a:spcPts val="300"/>
              </a:spcAft>
            </a:pPr>
            <a:r>
              <a:rPr sz="1430" b="0">
                <a:solidFill>
                  <a:srgbClr val="16212E"/>
                </a:solidFill>
                <a:latin typeface="Arial"/>
              </a:rPr>
              <a:t>агент участвует в исполнении процесса, а не только объясняет результат пользователю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Анализ подходов к AI-автоматизации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2487168" cy="2057400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363AB"/>
                </a:solidFill>
                <a:latin typeface="Arial"/>
              </a:rPr>
              <a:t>Rule-based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Сильная сторона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2E"/>
                </a:solidFill>
                <a:latin typeface="Arial"/>
              </a:rPr>
              <a:t>скорость и контроль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Ограничение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212E"/>
                </a:solidFill>
                <a:latin typeface="Arial"/>
              </a:rPr>
              <a:t>низкая адаптивность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7" y="1325880"/>
            <a:ext cx="2487168" cy="205740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824A"/>
                </a:solidFill>
                <a:latin typeface="Arial"/>
              </a:rPr>
              <a:t>ML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Сильная сторона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2E"/>
                </a:solidFill>
                <a:latin typeface="Arial"/>
              </a:rPr>
              <a:t>покрытие сложных случаев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Ограничение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212E"/>
                </a:solidFill>
                <a:latin typeface="Arial"/>
              </a:rPr>
              <a:t>нужны данные и обучение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325880"/>
            <a:ext cx="2487168" cy="2057400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BE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BE6F0F"/>
                </a:solidFill>
                <a:latin typeface="Arial"/>
              </a:rPr>
              <a:t>LLM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Сильная сторона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2E"/>
                </a:solidFill>
                <a:latin typeface="Arial"/>
              </a:rPr>
              <a:t>интерпретация контекста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Ограничение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212E"/>
                </a:solidFill>
                <a:latin typeface="Arial"/>
              </a:rPr>
              <a:t>стоимость и латентность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5128" y="1325880"/>
            <a:ext cx="2487168" cy="2057400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9488"/>
                </a:solidFill>
                <a:latin typeface="Arial"/>
              </a:rPr>
              <a:t>Agent-based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Сильная сторона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2E"/>
                </a:solidFill>
                <a:latin typeface="Arial"/>
              </a:rPr>
              <a:t>AI + backend-логика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C6C7E"/>
                </a:solidFill>
                <a:latin typeface="Arial"/>
              </a:rPr>
              <a:t>Ограничение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212E"/>
                </a:solidFill>
                <a:latin typeface="Arial"/>
              </a:rPr>
              <a:t>сложнее архитектурно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60520"/>
            <a:ext cx="10241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Вывод для прототипа</a:t>
            </a:r>
          </a:p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F9488"/>
                </a:solidFill>
                <a:latin typeface="Arial"/>
              </a:rPr>
              <a:t>быстрый путь обработки сохраняется, а LLM используется только для ограниченного сегмента сложных случаев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Обоснование выбора технологического стека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154680" cy="1005840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63AB"/>
                </a:solidFill>
                <a:latin typeface="Arial"/>
              </a:rPr>
              <a:t>Spring Boot</a:t>
            </a:r>
          </a:p>
          <a:p>
            <a:pPr algn="ctr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базовая сервисная архитектура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154680" cy="1005840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F9488"/>
                </a:solidFill>
                <a:latin typeface="Arial"/>
              </a:rPr>
              <a:t>Spring AI</a:t>
            </a:r>
          </a:p>
          <a:p>
            <a:pPr algn="ctr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интеграция с LLM через ChatClient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154680" cy="1005840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69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6953A8"/>
                </a:solidFill>
                <a:latin typeface="Arial"/>
              </a:rPr>
              <a:t>DeepSeek API</a:t>
            </a:r>
          </a:p>
          <a:p>
            <a:pPr algn="ctr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внешний LLM-провайдер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39"/>
            <a:ext cx="3154680" cy="1005840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BE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BE6F0F"/>
                </a:solidFill>
                <a:latin typeface="Arial"/>
              </a:rPr>
              <a:t>Kafka</a:t>
            </a:r>
          </a:p>
          <a:p>
            <a:pPr algn="ctr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асинхронная передача событий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39"/>
            <a:ext cx="3154680" cy="100584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6824A"/>
                </a:solidFill>
                <a:latin typeface="Arial"/>
              </a:rPr>
              <a:t>Kotlin</a:t>
            </a:r>
          </a:p>
          <a:p>
            <a:pPr algn="ctr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типобезопасность и JVM-совместимость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834639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PostgreSQL</a:t>
            </a:r>
          </a:p>
          <a:p>
            <a:pPr algn="ctr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хранение транзакций и результатов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166360"/>
            <a:ext cx="101498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6212E"/>
                </a:solidFill>
                <a:latin typeface="Arial"/>
              </a:rPr>
              <a:t>Архитектурный принцип</a:t>
            </a:r>
          </a:p>
          <a:p>
            <a:pPr algn="ctr">
              <a:spcAft>
                <a:spcPts val="300"/>
              </a:spcAft>
            </a:pPr>
            <a:r>
              <a:rPr sz="1550" b="0">
                <a:solidFill>
                  <a:srgbClr val="5C6C7E"/>
                </a:solidFill>
                <a:latin typeface="Arial"/>
              </a:rPr>
              <a:t>прототип реализуется как enterprise-backend, а не как изолированный LLM-эксперимент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Кейс исследования: классификация финансовых транзакций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41605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Почему этот кейс показателен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сочетает требования к скорости, точности и воспроизводимости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типовые транзакции проходят через rule-based слой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неоднозначные случаи направляются в LLM fallback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AI-компонент дополняет, а не заменяет процесс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463040"/>
            <a:ext cx="1920240" cy="658368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12E"/>
                </a:solidFill>
                <a:latin typeface="Arial"/>
              </a:rPr>
              <a:t>Сырая транзакция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60920" y="1792224"/>
            <a:ext cx="45720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55279" y="1463040"/>
            <a:ext cx="2331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12E"/>
                </a:solidFill>
                <a:latin typeface="Arial"/>
              </a:rPr>
              <a:t>Rule-based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2194560"/>
            <a:ext cx="0" cy="54864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18120" y="2834640"/>
            <a:ext cx="2560320" cy="731520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BE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12E"/>
                </a:solidFill>
                <a:latin typeface="Arial"/>
              </a:rPr>
              <a:t>Confidence gate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903720" y="3200400"/>
            <a:ext cx="822959" cy="105156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69880" y="3200400"/>
            <a:ext cx="411480" cy="105156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15000" y="4251960"/>
            <a:ext cx="2468880" cy="658368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270" b="1">
                <a:solidFill>
                  <a:srgbClr val="16824A"/>
                </a:solidFill>
                <a:latin typeface="Arial"/>
              </a:rPr>
              <a:t>Финальная категория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4251960"/>
            <a:ext cx="1828800" cy="658368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270" b="1">
                <a:solidFill>
                  <a:srgbClr val="0F9488"/>
                </a:solidFill>
                <a:latin typeface="Arial"/>
              </a:rPr>
              <a:t>LLM fallback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275320" y="4572000"/>
            <a:ext cx="123444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Архитектура прототипа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12E"/>
                </a:solidFill>
                <a:latin typeface="Arial"/>
              </a:rPr>
              <a:t>Client /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1810512"/>
            <a:ext cx="45720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417320"/>
            <a:ext cx="1828800" cy="777240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363AB"/>
                </a:solidFill>
                <a:latin typeface="Arial"/>
              </a:rPr>
              <a:t>Core Service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REST + orchestration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810512"/>
            <a:ext cx="45720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57800" y="1417320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12E"/>
                </a:solidFill>
                <a:latin typeface="Arial"/>
              </a:rPr>
              <a:t>Rule-based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fast path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1810512"/>
            <a:ext cx="41148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60" y="1417320"/>
            <a:ext cx="1920240" cy="777240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BE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BE6F0F"/>
                </a:solidFill>
                <a:latin typeface="Arial"/>
              </a:rPr>
              <a:t>Confidence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gate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2286000"/>
            <a:ext cx="0" cy="68580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26679" y="3063240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12E"/>
                </a:solidFill>
                <a:latin typeface="Arial"/>
              </a:rPr>
              <a:t>Kafka topic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3886200"/>
            <a:ext cx="0" cy="68580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4663440"/>
            <a:ext cx="2971800" cy="749808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F9488"/>
                </a:solidFill>
                <a:latin typeface="Arial"/>
              </a:rPr>
              <a:t>LLM Classifier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2651760" cy="82296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6824A"/>
                </a:solidFill>
                <a:latin typeface="Arial"/>
              </a:rPr>
              <a:t>PostgreSQL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C6C7E"/>
                </a:solidFill>
                <a:latin typeface="Arial"/>
              </a:rPr>
              <a:t>transactions, labels, metadata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148840" y="2194560"/>
            <a:ext cx="1554480" cy="214884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429000" y="4846320"/>
            <a:ext cx="5440680" cy="59436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5806440"/>
            <a:ext cx="10607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212E"/>
                </a:solidFill>
                <a:latin typeface="Arial"/>
              </a:rPr>
              <a:t>LLM-компонент изолирован от быстрого пути и может масштабироваться отдельно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Основной сценарий: Transaction Classifier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1828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F9488"/>
                </a:solidFill>
                <a:latin typeface="Arial"/>
              </a:rPr>
              <a:t>1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212E"/>
                </a:solidFill>
                <a:latin typeface="Arial"/>
              </a:rPr>
              <a:t>сырая транзакция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1448" y="1737360"/>
            <a:ext cx="301752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2928" y="1325880"/>
            <a:ext cx="1828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F9488"/>
                </a:solidFill>
                <a:latin typeface="Arial"/>
              </a:rPr>
              <a:t>2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212E"/>
                </a:solidFill>
                <a:latin typeface="Arial"/>
              </a:rPr>
              <a:t>первичная категория + confidence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7448" y="1737360"/>
            <a:ext cx="301752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38928" y="1325880"/>
            <a:ext cx="1828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F9488"/>
                </a:solidFill>
                <a:latin typeface="Arial"/>
              </a:rPr>
              <a:t>3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212E"/>
                </a:solidFill>
                <a:latin typeface="Arial"/>
              </a:rPr>
              <a:t>достаточная уверенность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13448" y="1737360"/>
            <a:ext cx="301752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24927" y="1325880"/>
            <a:ext cx="1828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F9488"/>
                </a:solidFill>
                <a:latin typeface="Arial"/>
              </a:rPr>
              <a:t>4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212E"/>
                </a:solidFill>
                <a:latin typeface="Arial"/>
              </a:rPr>
              <a:t>низкая уверенность → 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99447" y="1737360"/>
            <a:ext cx="301753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10928" y="1325880"/>
            <a:ext cx="1828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F9488"/>
                </a:solidFill>
                <a:latin typeface="Arial"/>
              </a:rPr>
              <a:t>5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212E"/>
                </a:solidFill>
                <a:latin typeface="Arial"/>
              </a:rPr>
              <a:t>уточнение и сохранение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88920"/>
            <a:ext cx="5074920" cy="205740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824A"/>
                </a:solidFill>
                <a:latin typeface="Arial"/>
              </a:rPr>
              <a:t>Быстрый путь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результат принимается без обращения к LLM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низкая задержка для большинства транзакций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предсказуемая стоимость обработки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88920"/>
            <a:ext cx="5074920" cy="2057400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9488"/>
                </a:solidFill>
                <a:latin typeface="Arial"/>
              </a:rPr>
              <a:t>Расширенный путь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LLM используется только при low-confidence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агент уточняет категорию по контексту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16212E"/>
                </a:solidFill>
                <a:latin typeface="Arial"/>
              </a:rPr>
              <a:t>• результат возвращается в Core Service и БД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5440680"/>
            <a:ext cx="2148840" cy="329184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E4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16824A"/>
                </a:solidFill>
                <a:latin typeface="Arial"/>
              </a:rPr>
              <a:t>меньше UNDEFINED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5440680"/>
            <a:ext cx="2148840" cy="329184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E4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16824A"/>
                </a:solidFill>
                <a:latin typeface="Arial"/>
              </a:rPr>
              <a:t>меньше ручной проверки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440680"/>
            <a:ext cx="2148840" cy="329184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363AB"/>
                </a:solidFill>
                <a:latin typeface="Arial"/>
              </a:rPr>
              <a:t>быстрый основной поток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5440680"/>
            <a:ext cx="2148840" cy="329184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FFF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BE6F0F"/>
                </a:solidFill>
                <a:latin typeface="Arial"/>
              </a:rPr>
              <a:t>контроль LLM-вызовов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Потенциал расширения: context-aware сценарий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297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Перспектива развития</a:t>
            </a:r>
          </a:p>
          <a:p>
            <a:pPr algn="l">
              <a:spcAft>
                <a:spcPts val="300"/>
              </a:spcAft>
            </a:pPr>
            <a:r>
              <a:rPr sz="1340" b="0">
                <a:solidFill>
                  <a:srgbClr val="16212E"/>
                </a:solidFill>
                <a:latin typeface="Arial"/>
              </a:rPr>
              <a:t>• текущий агент использует только входные данные процесса</a:t>
            </a:r>
          </a:p>
          <a:p>
            <a:pPr algn="l">
              <a:spcAft>
                <a:spcPts val="300"/>
              </a:spcAft>
            </a:pPr>
            <a:r>
              <a:rPr sz="1340" b="0">
                <a:solidFill>
                  <a:srgbClr val="16212E"/>
                </a:solidFill>
                <a:latin typeface="Arial"/>
              </a:rPr>
              <a:t>• архитектура допускает получение дополнительного контекста</a:t>
            </a:r>
          </a:p>
          <a:p>
            <a:pPr algn="l">
              <a:spcAft>
                <a:spcPts val="300"/>
              </a:spcAft>
            </a:pPr>
            <a:r>
              <a:rPr sz="1340" b="0">
                <a:solidFill>
                  <a:srgbClr val="16212E"/>
                </a:solidFill>
                <a:latin typeface="Arial"/>
              </a:rPr>
              <a:t>• возможный tool: ограниченный доступ к истории транзакций</a:t>
            </a:r>
          </a:p>
          <a:p>
            <a:pPr algn="l">
              <a:spcAft>
                <a:spcPts val="300"/>
              </a:spcAft>
            </a:pPr>
            <a:r>
              <a:rPr sz="1340" b="0">
                <a:solidFill>
                  <a:srgbClr val="16212E"/>
                </a:solidFill>
                <a:latin typeface="Arial"/>
              </a:rPr>
              <a:t>• расширение не считается реализованной частью прототипа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417320"/>
            <a:ext cx="1920240" cy="713232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0F9488"/>
                </a:solidFill>
                <a:latin typeface="Arial"/>
              </a:rPr>
              <a:t>LLM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1783080"/>
            <a:ext cx="82296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5360" y="1417320"/>
            <a:ext cx="2148840" cy="713232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BE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220" b="1">
                <a:solidFill>
                  <a:srgbClr val="16212E"/>
                </a:solidFill>
                <a:latin typeface="Arial"/>
              </a:rPr>
              <a:t>Достаточно контекста?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74352" y="2212848"/>
            <a:ext cx="0" cy="758952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3063240"/>
            <a:ext cx="2057400" cy="713232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824A"/>
                </a:solidFill>
                <a:latin typeface="Arial"/>
              </a:rPr>
              <a:t>Решение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583680" y="1783080"/>
            <a:ext cx="1920240" cy="164592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32120" y="3383280"/>
            <a:ext cx="2103120" cy="713232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2363AB"/>
                </a:solidFill>
                <a:latin typeface="Arial"/>
              </a:rPr>
              <a:t>Запрос контекста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0" y="4160520"/>
            <a:ext cx="0" cy="54864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32120" y="4800600"/>
            <a:ext cx="2103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20" b="1">
                <a:solidFill>
                  <a:srgbClr val="16212E"/>
                </a:solidFill>
                <a:latin typeface="Arial"/>
              </a:rPr>
              <a:t>База данных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4572000" y="1828800"/>
            <a:ext cx="914400" cy="333756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75320" y="5074920"/>
            <a:ext cx="2560320" cy="329184"/>
          </a:xfrm>
          <a:prstGeom prst="roundRect">
            <a:avLst/>
          </a:prstGeom>
          <a:solidFill>
            <a:srgbClr val="FFEAED"/>
          </a:solidFill>
          <a:ln w="12700">
            <a:solidFill>
              <a:srgbClr val="FF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B33543"/>
                </a:solidFill>
                <a:latin typeface="Arial"/>
              </a:rPr>
              <a:t>planned / not implemented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Методика экспериментальной оценки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4800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212E"/>
                </a:solidFill>
                <a:latin typeface="Arial"/>
              </a:rPr>
              <a:t>Сравниваемые режимы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5C6C7E"/>
                </a:solidFill>
                <a:latin typeface="Arial"/>
              </a:rPr>
              <a:t>baseline: только rule-based классификация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F9488"/>
                </a:solidFill>
                <a:latin typeface="Arial"/>
              </a:rPr>
              <a:t>hybrid: rule-based + LLM fallback для low-confidence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234440"/>
            <a:ext cx="1920240" cy="530352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Группа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234440"/>
            <a:ext cx="3657600" cy="530352"/>
          </a:xfrm>
          <a:prstGeom prst="rect">
            <a:avLst/>
          </a:prstGeom>
          <a:solidFill>
            <a:srgbClr val="16212E"/>
          </a:solidFill>
          <a:ln w="12700">
            <a:solidFill>
              <a:srgbClr val="162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Метрики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76479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Качество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764792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accuracy, UNDEFINED, manual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229514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Производительность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295144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p95 latency, throughput, error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825496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Экономика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825496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6212E"/>
                </a:solidFill>
                <a:latin typeface="Arial"/>
              </a:rPr>
              <a:t>cost per request, cost per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10469880" cy="1234440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6212E"/>
                </a:solidFill>
                <a:latin typeface="Arial"/>
              </a:rPr>
              <a:t>Данные эксперимента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6212E"/>
                </a:solidFill>
                <a:latin typeface="Arial"/>
              </a:rPr>
              <a:t>синтетический сценарный набор транзакций, интерпретация результатов как демонстрационная оценка, а не production-метрики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074920"/>
            <a:ext cx="2103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363AB"/>
                </a:solidFill>
                <a:latin typeface="Arial"/>
              </a:rPr>
              <a:t>scenario dataset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37560" y="5239512"/>
            <a:ext cx="59436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69080" y="5074920"/>
            <a:ext cx="2103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363AB"/>
                </a:solidFill>
                <a:latin typeface="Arial"/>
              </a:rPr>
              <a:t>baseline run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" y="5239512"/>
            <a:ext cx="59436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40880" y="5074920"/>
            <a:ext cx="2103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F9488"/>
                </a:solidFill>
                <a:latin typeface="Arial"/>
              </a:rPr>
              <a:t>hybrid run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1160" y="5239512"/>
            <a:ext cx="594360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5074920"/>
            <a:ext cx="12801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16824A"/>
                </a:solidFill>
                <a:latin typeface="Arial"/>
              </a:rPr>
              <a:t>compare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Предварительная демонстрационная оценка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4871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C6C7E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B33543"/>
                </a:solidFill>
                <a:latin typeface="Arial"/>
              </a:rPr>
              <a:t>84-87%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baseline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1691640"/>
            <a:ext cx="393191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76472" y="1234440"/>
            <a:ext cx="2487168" cy="91440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C6C7E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16824A"/>
                </a:solidFill>
                <a:latin typeface="Arial"/>
              </a:rPr>
              <a:t>91-94%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hybrid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24871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C6C7E"/>
                </a:solidFill>
                <a:latin typeface="Arial"/>
              </a:rPr>
              <a:t>UNDEFINED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B33543"/>
                </a:solidFill>
                <a:latin typeface="Arial"/>
              </a:rPr>
              <a:t>7-10%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baseline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971800"/>
            <a:ext cx="393191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76472" y="2514600"/>
            <a:ext cx="2487168" cy="91440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C6C7E"/>
                </a:solidFill>
                <a:latin typeface="Arial"/>
              </a:rPr>
              <a:t>UNDEFINED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16824A"/>
                </a:solidFill>
                <a:latin typeface="Arial"/>
              </a:rPr>
              <a:t>2-4%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hybrid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24871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C6C7E"/>
                </a:solidFill>
                <a:latin typeface="Arial"/>
              </a:rPr>
              <a:t>Ручная проверка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B33543"/>
                </a:solidFill>
                <a:latin typeface="Arial"/>
              </a:rPr>
              <a:t>5-8%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baseline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4251960"/>
            <a:ext cx="393191" cy="0"/>
          </a:xfrm>
          <a:prstGeom prst="line">
            <a:avLst/>
          </a:prstGeom>
          <a:ln w="2413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76472" y="3794760"/>
            <a:ext cx="2487168" cy="91440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C6C7E"/>
                </a:solidFill>
                <a:latin typeface="Arial"/>
              </a:rPr>
              <a:t>Ручная проверка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16824A"/>
                </a:solidFill>
                <a:latin typeface="Arial"/>
              </a:rPr>
              <a:t>1-3%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C6C7E"/>
                </a:solidFill>
                <a:latin typeface="Arial"/>
              </a:rPr>
              <a:t>hybrid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234440"/>
            <a:ext cx="4251960" cy="1143000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BE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5C6C7E"/>
                </a:solidFill>
                <a:latin typeface="Arial"/>
              </a:rPr>
              <a:t>Доля LLM-вызовов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BE6F0F"/>
                </a:solidFill>
                <a:latin typeface="Arial"/>
              </a:rPr>
              <a:t>5-12% потока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212E"/>
                </a:solidFill>
                <a:latin typeface="Arial"/>
              </a:rPr>
              <a:t>ограничение стоимости и задержки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880360"/>
            <a:ext cx="4251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212E"/>
                </a:solidFill>
                <a:latin typeface="Arial"/>
              </a:rPr>
              <a:t>Интерпретация</a:t>
            </a:r>
          </a:p>
          <a:p>
            <a:pPr algn="l">
              <a:spcAft>
                <a:spcPts val="300"/>
              </a:spcAft>
            </a:pPr>
            <a:r>
              <a:rPr sz="1280" b="0">
                <a:solidFill>
                  <a:srgbClr val="16212E"/>
                </a:solidFill>
                <a:latin typeface="Arial"/>
              </a:rPr>
              <a:t>• rule-based слой остаётся быстрым</a:t>
            </a:r>
          </a:p>
          <a:p>
            <a:pPr algn="l">
              <a:spcAft>
                <a:spcPts val="300"/>
              </a:spcAft>
            </a:pPr>
            <a:r>
              <a:rPr sz="1280" b="0">
                <a:solidFill>
                  <a:srgbClr val="16212E"/>
                </a:solidFill>
                <a:latin typeface="Arial"/>
              </a:rPr>
              <a:t>• LLM закрывает low-confidence сегмент</a:t>
            </a:r>
          </a:p>
          <a:p>
            <a:pPr algn="l">
              <a:spcAft>
                <a:spcPts val="300"/>
              </a:spcAft>
            </a:pPr>
            <a:r>
              <a:rPr sz="1280" b="0">
                <a:solidFill>
                  <a:srgbClr val="16212E"/>
                </a:solidFill>
                <a:latin typeface="Arial"/>
              </a:rPr>
              <a:t>• значения являются модельной оценкой на синтетике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559552"/>
            <a:ext cx="10058400" cy="438912"/>
          </a:xfrm>
          <a:prstGeom prst="roundRect">
            <a:avLst/>
          </a:prstGeom>
          <a:solidFill>
            <a:srgbClr val="FFEAED"/>
          </a:solidFill>
          <a:ln w="12700">
            <a:solidFill>
              <a:srgbClr val="B33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B33543"/>
                </a:solidFill>
                <a:latin typeface="Arial"/>
              </a:rPr>
              <a:t>Цифры не являются подтверждённым промышленным результатом и требуют экспериментальной проверки.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Научная новизна, практическая значимость и выводы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3429000" cy="4114800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363AB"/>
                </a:solidFill>
                <a:latin typeface="Arial"/>
              </a:rPr>
              <a:t>Научная новизна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AI-агент как управляемый компонент backend-процесса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гибридная обработка: rule-based + LLM fallback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интеграция LLM без перевода всего процесса на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234440"/>
            <a:ext cx="3429000" cy="4114800"/>
          </a:xfrm>
          <a:prstGeom prst="roundRect">
            <a:avLst/>
          </a:prstGeom>
          <a:solidFill>
            <a:srgbClr val="E1F7F4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F9488"/>
                </a:solidFill>
                <a:latin typeface="Arial"/>
              </a:rPr>
              <a:t>Практическая значимость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воспроизводимый паттерн внедрения LLM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метрики качества, латентности и стоимости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event-driven изоляция долгих LLM-вызовов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234440"/>
            <a:ext cx="3429000" cy="4114800"/>
          </a:xfrm>
          <a:prstGeom prst="roundRect">
            <a:avLst/>
          </a:prstGeom>
          <a:solidFill>
            <a:srgbClr val="E4F6ED"/>
          </a:solidFill>
          <a:ln w="12700">
            <a:solidFill>
              <a:srgbClr val="1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824A"/>
                </a:solidFill>
                <a:latin typeface="Arial"/>
              </a:rPr>
              <a:t>Выводы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ценность даёт управляемое включение AI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hybrid сочетает скорость правил и гибкость LLM</a:t>
            </a:r>
          </a:p>
          <a:p>
            <a:pPr algn="l">
              <a:spcAft>
                <a:spcPts val="300"/>
              </a:spcAft>
            </a:pPr>
            <a:r>
              <a:rPr sz="1270" b="0">
                <a:solidFill>
                  <a:srgbClr val="16212E"/>
                </a:solidFill>
                <a:latin typeface="Arial"/>
              </a:rPr>
              <a:t>• прототип подтверждает инженерную реализуемость подхода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466344" cy="685800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327648"/>
            <a:ext cx="38404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C6C7E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1051560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12E"/>
                </a:solidFill>
                <a:latin typeface="Arial"/>
              </a:rPr>
              <a:t>Источники и технологическая база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800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212E"/>
                </a:solidFill>
                <a:latin typeface="Arial"/>
              </a:rPr>
              <a:t>Исследовательская база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работы по LLM-based agents и agentic AI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исследования AI-автоматизации бизнес-процессов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материалы по event-driven архитектурам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4800600" cy="3474720"/>
          </a:xfrm>
          <a:prstGeom prst="roundRect">
            <a:avLst/>
          </a:prstGeom>
          <a:solidFill>
            <a:srgbClr val="E5F0FF"/>
          </a:solidFill>
          <a:ln w="12700">
            <a:solidFill>
              <a:srgbClr val="23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212E"/>
                </a:solidFill>
                <a:latin typeface="Arial"/>
              </a:rPr>
              <a:t>Технологическая база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документация Spring AI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документация Spring Boot и Spring Kafka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документация DeepSeek API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документация Apache Kafka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6212E"/>
                </a:solidFill>
                <a:latin typeface="Arial"/>
              </a:rPr>
              <a:t>• документация Kotlin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532120"/>
            <a:ext cx="9784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F9488"/>
                </a:solidFill>
                <a:latin typeface="Arial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873</Words>
  <Application>Microsoft Office PowerPoint</Application>
  <PresentationFormat>Широкоэкранный</PresentationFormat>
  <Paragraphs>255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Irunazu Shan</cp:lastModifiedBy>
  <cp:revision>1</cp:revision>
  <dcterms:created xsi:type="dcterms:W3CDTF">2013-01-27T09:14:16Z</dcterms:created>
  <dcterms:modified xsi:type="dcterms:W3CDTF">2026-04-14T16:56:33Z</dcterms:modified>
  <cp:category/>
</cp:coreProperties>
</file>