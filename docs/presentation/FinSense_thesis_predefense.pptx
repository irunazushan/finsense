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C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50040" y="0"/>
            <a:ext cx="438912" cy="6858000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-777240"/>
            <a:ext cx="2560320" cy="2560320"/>
          </a:xfrm>
          <a:prstGeom prst="ellipse">
            <a:avLst/>
          </a:prstGeom>
          <a:solidFill>
            <a:srgbClr val="D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804672"/>
            <a:ext cx="9692640" cy="132588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0C274A"/>
                </a:solidFill>
                <a:latin typeface="Arial"/>
              </a:rPr>
              <a:t>Разработка и внедрение AI-агента</a:t>
            </a:r>
          </a:p>
          <a:p>
            <a:pPr algn="l">
              <a:spcAft>
                <a:spcPts val="300"/>
              </a:spcAft>
            </a:pPr>
            <a:r>
              <a:rPr sz="3000" b="1">
                <a:solidFill>
                  <a:srgbClr val="163F70"/>
                </a:solidFill>
                <a:latin typeface="Arial"/>
              </a:rPr>
              <a:t>для оптимизации бизнес-процессов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331720"/>
            <a:ext cx="8869680" cy="68580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0">
                <a:solidFill>
                  <a:srgbClr val="546780"/>
                </a:solidFill>
                <a:latin typeface="Arial"/>
              </a:rPr>
              <a:t>Анализ существующих решений и разработка прототипа на базе Spring и Kotlin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767328"/>
            <a:ext cx="320040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546780"/>
                </a:solidFill>
                <a:latin typeface="Arial"/>
              </a:rPr>
              <a:t>Формат</a:t>
            </a:r>
          </a:p>
          <a:p>
            <a:pPr algn="l">
              <a:spcAft>
                <a:spcPts val="300"/>
              </a:spcAft>
            </a:pPr>
            <a:r>
              <a:rPr sz="2100" b="1">
                <a:solidFill>
                  <a:srgbClr val="0C274A"/>
                </a:solidFill>
                <a:latin typeface="Arial"/>
              </a:rPr>
              <a:t>предзащита магистерской диссертации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3767328"/>
            <a:ext cx="297180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546780"/>
                </a:solidFill>
                <a:latin typeface="Arial"/>
              </a:rPr>
              <a:t>Прототип</a:t>
            </a:r>
          </a:p>
          <a:p>
            <a:pPr algn="l">
              <a:spcAft>
                <a:spcPts val="300"/>
              </a:spcAft>
            </a:pPr>
            <a:r>
              <a:rPr sz="2500" b="1">
                <a:solidFill>
                  <a:srgbClr val="2563EB"/>
                </a:solidFill>
                <a:latin typeface="Arial"/>
              </a:rPr>
              <a:t>FinSense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3767328"/>
            <a:ext cx="329184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546780"/>
                </a:solidFill>
                <a:latin typeface="Arial"/>
              </a:rPr>
              <a:t>Фокус</a:t>
            </a:r>
          </a:p>
          <a:p>
            <a:pPr algn="l">
              <a:spcAft>
                <a:spcPts val="300"/>
              </a:spcAft>
            </a:pPr>
            <a:r>
              <a:rPr sz="2000" b="1">
                <a:solidFill>
                  <a:srgbClr val="0C274A"/>
                </a:solidFill>
                <a:latin typeface="Arial"/>
              </a:rPr>
              <a:t>оптимизация transaction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5715000"/>
            <a:ext cx="10424160" cy="45720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0C274A"/>
                </a:solidFill>
                <a:latin typeface="Arial"/>
              </a:rPr>
              <a:t>Основной агент: Transaction Classifier Agent. Дополнительный сценарий: Financial Coach Agent.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C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50040" y="0"/>
            <a:ext cx="438912" cy="6858000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-777240"/>
            <a:ext cx="2560320" cy="2560320"/>
          </a:xfrm>
          <a:prstGeom prst="ellipse">
            <a:avLst/>
          </a:prstGeom>
          <a:solidFill>
            <a:srgbClr val="D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607040" cy="59436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0C274A"/>
                </a:solidFill>
                <a:latin typeface="Arial"/>
              </a:rPr>
              <a:t>Введение: контекст работы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291840" cy="3474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C274A"/>
                </a:solidFill>
                <a:latin typeface="Arial"/>
              </a:rPr>
              <a:t>Что меняется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LLM стали применимы не только для текста, но и для задач принятия решений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tool calling позволяет подключать модель к API, БД и бизнес-данным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AI-компоненты можно встраивать в существующие backend-процессы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291840" cy="3474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C274A"/>
                </a:solidFill>
                <a:latin typeface="Arial"/>
              </a:rPr>
              <a:t>Что важно бизнесу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меньше ручного труда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быстрее обработка операций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выше качество решений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измеримый эффект: latency, cost,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325880"/>
            <a:ext cx="3291840" cy="3474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C274A"/>
                </a:solidFill>
                <a:latin typeface="Arial"/>
              </a:rPr>
              <a:t>Что исследуется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как встроить AI-агента в процесс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как ограничить LLM контрактами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как сохранить контролируемость и поддержку в JVM-стеке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440680"/>
            <a:ext cx="10058400" cy="50292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0C274A"/>
                </a:solidFill>
                <a:latin typeface="Arial"/>
              </a:rPr>
              <a:t>Таким образом, диплом рассматривает AI-агента как инженерный компонент бизнес-процесса, а не как отдельный чат-интерфейс.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C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50040" y="0"/>
            <a:ext cx="438912" cy="6858000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-777240"/>
            <a:ext cx="2560320" cy="2560320"/>
          </a:xfrm>
          <a:prstGeom prst="ellipse">
            <a:avLst/>
          </a:prstGeom>
          <a:solidFill>
            <a:srgbClr val="D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607040" cy="59436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0C274A"/>
                </a:solidFill>
                <a:latin typeface="Arial"/>
              </a:rPr>
              <a:t>Проблема, цель и объект исследования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337560" cy="3520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2300" b="1" dirty="0" err="1">
                <a:solidFill>
                  <a:srgbClr val="0C274A"/>
                </a:solidFill>
                <a:latin typeface="Arial"/>
              </a:rPr>
              <a:t>Проблема</a:t>
            </a:r>
            <a:endParaRPr sz="2300" b="1" dirty="0">
              <a:solidFill>
                <a:srgbClr val="0C274A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600" b="0" dirty="0">
                <a:solidFill>
                  <a:srgbClr val="0C274A"/>
                </a:solidFill>
                <a:latin typeface="Arial"/>
              </a:rPr>
              <a:t>• </a:t>
            </a:r>
            <a:r>
              <a:rPr sz="1600" b="0" dirty="0" err="1">
                <a:solidFill>
                  <a:srgbClr val="0C274A"/>
                </a:solidFill>
                <a:latin typeface="Arial"/>
              </a:rPr>
              <a:t>типовые</a:t>
            </a:r>
            <a:r>
              <a:rPr sz="1600" b="0" dirty="0">
                <a:solidFill>
                  <a:srgbClr val="0C274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0C274A"/>
                </a:solidFill>
                <a:latin typeface="Arial"/>
              </a:rPr>
              <a:t>правила</a:t>
            </a:r>
            <a:r>
              <a:rPr sz="1600" b="0" dirty="0">
                <a:solidFill>
                  <a:srgbClr val="0C274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0C274A"/>
                </a:solidFill>
                <a:latin typeface="Arial"/>
              </a:rPr>
              <a:t>быстрые</a:t>
            </a:r>
            <a:r>
              <a:rPr sz="1600" b="0" dirty="0">
                <a:solidFill>
                  <a:srgbClr val="0C274A"/>
                </a:solidFill>
                <a:latin typeface="Arial"/>
              </a:rPr>
              <a:t>, </a:t>
            </a:r>
            <a:r>
              <a:rPr sz="1600" b="0" dirty="0" err="1">
                <a:solidFill>
                  <a:srgbClr val="0C274A"/>
                </a:solidFill>
                <a:latin typeface="Arial"/>
              </a:rPr>
              <a:t>но</a:t>
            </a:r>
            <a:r>
              <a:rPr sz="1600" b="0" dirty="0">
                <a:solidFill>
                  <a:srgbClr val="0C274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0C274A"/>
                </a:solidFill>
                <a:latin typeface="Arial"/>
              </a:rPr>
              <a:t>ошибаются</a:t>
            </a:r>
            <a:r>
              <a:rPr sz="1600" b="0" dirty="0">
                <a:solidFill>
                  <a:srgbClr val="0C274A"/>
                </a:solidFill>
                <a:latin typeface="Arial"/>
              </a:rPr>
              <a:t> в </a:t>
            </a:r>
            <a:r>
              <a:rPr sz="1600" b="0" dirty="0" err="1">
                <a:solidFill>
                  <a:srgbClr val="0C274A"/>
                </a:solidFill>
                <a:latin typeface="Arial"/>
              </a:rPr>
              <a:t>неоднозначных</a:t>
            </a:r>
            <a:r>
              <a:rPr sz="1600" b="0" dirty="0">
                <a:solidFill>
                  <a:srgbClr val="0C274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0C274A"/>
                </a:solidFill>
                <a:latin typeface="Arial"/>
              </a:rPr>
              <a:t>случаях</a:t>
            </a:r>
            <a:endParaRPr sz="1600" b="0" dirty="0">
              <a:solidFill>
                <a:srgbClr val="0C274A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600" b="0" dirty="0">
                <a:solidFill>
                  <a:srgbClr val="0C274A"/>
                </a:solidFill>
                <a:latin typeface="Arial"/>
              </a:rPr>
              <a:t>• LLM </a:t>
            </a:r>
            <a:r>
              <a:rPr sz="1600" b="0" dirty="0" err="1">
                <a:solidFill>
                  <a:srgbClr val="0C274A"/>
                </a:solidFill>
                <a:latin typeface="Arial"/>
              </a:rPr>
              <a:t>для</a:t>
            </a:r>
            <a:r>
              <a:rPr sz="1600" b="0" dirty="0">
                <a:solidFill>
                  <a:srgbClr val="0C274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0C274A"/>
                </a:solidFill>
                <a:latin typeface="Arial"/>
              </a:rPr>
              <a:t>всех</a:t>
            </a:r>
            <a:r>
              <a:rPr sz="1600" b="0" dirty="0">
                <a:solidFill>
                  <a:srgbClr val="0C274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0C274A"/>
                </a:solidFill>
                <a:latin typeface="Arial"/>
              </a:rPr>
              <a:t>операций</a:t>
            </a:r>
            <a:r>
              <a:rPr sz="1600" b="0" dirty="0">
                <a:solidFill>
                  <a:srgbClr val="0C274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0C274A"/>
                </a:solidFill>
                <a:latin typeface="Arial"/>
              </a:rPr>
              <a:t>дорогой</a:t>
            </a:r>
            <a:r>
              <a:rPr sz="1600" b="0" dirty="0">
                <a:solidFill>
                  <a:srgbClr val="0C274A"/>
                </a:solidFill>
                <a:latin typeface="Arial"/>
              </a:rPr>
              <a:t> и </a:t>
            </a:r>
            <a:r>
              <a:rPr sz="1600" b="0" dirty="0" err="1">
                <a:solidFill>
                  <a:srgbClr val="0C274A"/>
                </a:solidFill>
                <a:latin typeface="Arial"/>
              </a:rPr>
              <a:t>медленный</a:t>
            </a:r>
            <a:endParaRPr sz="1600" b="0" dirty="0">
              <a:solidFill>
                <a:srgbClr val="0C274A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600" b="0" dirty="0">
                <a:solidFill>
                  <a:srgbClr val="0C274A"/>
                </a:solidFill>
                <a:latin typeface="Arial"/>
              </a:rPr>
              <a:t>• </a:t>
            </a:r>
            <a:r>
              <a:rPr sz="1600" b="0" dirty="0" err="1">
                <a:solidFill>
                  <a:srgbClr val="0C274A"/>
                </a:solidFill>
                <a:latin typeface="Arial"/>
              </a:rPr>
              <a:t>нужен</a:t>
            </a:r>
            <a:r>
              <a:rPr sz="1600" b="0" dirty="0">
                <a:solidFill>
                  <a:srgbClr val="0C274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0C274A"/>
                </a:solidFill>
                <a:latin typeface="Arial"/>
              </a:rPr>
              <a:t>управляемый</a:t>
            </a:r>
            <a:r>
              <a:rPr sz="1600" b="0" dirty="0">
                <a:solidFill>
                  <a:srgbClr val="0C274A"/>
                </a:solidFill>
                <a:latin typeface="Arial"/>
              </a:rPr>
              <a:t> fallback, а </a:t>
            </a:r>
            <a:r>
              <a:rPr sz="1600" b="0" dirty="0" err="1">
                <a:solidFill>
                  <a:srgbClr val="0C274A"/>
                </a:solidFill>
                <a:latin typeface="Arial"/>
              </a:rPr>
              <a:t>не</a:t>
            </a:r>
            <a:r>
              <a:rPr sz="1600" b="0" dirty="0">
                <a:solidFill>
                  <a:srgbClr val="0C274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0C274A"/>
                </a:solidFill>
                <a:latin typeface="Arial"/>
              </a:rPr>
              <a:t>замена</a:t>
            </a:r>
            <a:r>
              <a:rPr sz="1600" b="0" dirty="0">
                <a:solidFill>
                  <a:srgbClr val="0C274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0C274A"/>
                </a:solidFill>
                <a:latin typeface="Arial"/>
              </a:rPr>
              <a:t>всего</a:t>
            </a:r>
            <a:r>
              <a:rPr sz="1600" b="0" dirty="0">
                <a:solidFill>
                  <a:srgbClr val="0C274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0C274A"/>
                </a:solidFill>
                <a:latin typeface="Arial"/>
              </a:rPr>
              <a:t>процесса</a:t>
            </a:r>
            <a:endParaRPr sz="1600" b="0" dirty="0">
              <a:solidFill>
                <a:srgbClr val="0C274A"/>
              </a:solidFill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337560" cy="3520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2300" b="1" dirty="0" err="1">
                <a:solidFill>
                  <a:srgbClr val="0C274A"/>
                </a:solidFill>
                <a:latin typeface="Arial"/>
              </a:rPr>
              <a:t>Цель</a:t>
            </a:r>
            <a:endParaRPr sz="2300" b="1" dirty="0">
              <a:solidFill>
                <a:srgbClr val="0C274A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800" b="0" dirty="0" err="1">
                <a:solidFill>
                  <a:srgbClr val="0C274A"/>
                </a:solidFill>
                <a:latin typeface="Arial"/>
              </a:rPr>
              <a:t>Разработать</a:t>
            </a:r>
            <a:r>
              <a:rPr sz="1800" b="0" dirty="0">
                <a:solidFill>
                  <a:srgbClr val="0C274A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C274A"/>
                </a:solidFill>
                <a:latin typeface="Arial"/>
              </a:rPr>
              <a:t>прототип</a:t>
            </a:r>
            <a:r>
              <a:rPr sz="1800" b="0" dirty="0">
                <a:solidFill>
                  <a:srgbClr val="0C274A"/>
                </a:solidFill>
                <a:latin typeface="Arial"/>
              </a:rPr>
              <a:t> AI-</a:t>
            </a:r>
            <a:r>
              <a:rPr sz="1800" b="0" dirty="0" err="1">
                <a:solidFill>
                  <a:srgbClr val="0C274A"/>
                </a:solidFill>
                <a:latin typeface="Arial"/>
              </a:rPr>
              <a:t>агента</a:t>
            </a:r>
            <a:r>
              <a:rPr sz="1800" b="0" dirty="0">
                <a:solidFill>
                  <a:srgbClr val="0C274A"/>
                </a:solidFill>
                <a:latin typeface="Arial"/>
              </a:rPr>
              <a:t>, </a:t>
            </a:r>
            <a:r>
              <a:rPr sz="1800" b="0" dirty="0" err="1">
                <a:solidFill>
                  <a:srgbClr val="0C274A"/>
                </a:solidFill>
                <a:latin typeface="Arial"/>
              </a:rPr>
              <a:t>который</a:t>
            </a:r>
            <a:r>
              <a:rPr sz="1800" b="0" dirty="0">
                <a:solidFill>
                  <a:srgbClr val="0C274A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C274A"/>
                </a:solidFill>
                <a:latin typeface="Arial"/>
              </a:rPr>
              <a:t>оптимизирует</a:t>
            </a:r>
            <a:r>
              <a:rPr sz="1800" b="0" dirty="0">
                <a:solidFill>
                  <a:srgbClr val="0C274A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C274A"/>
                </a:solidFill>
                <a:latin typeface="Arial"/>
              </a:rPr>
              <a:t>процесс</a:t>
            </a:r>
            <a:r>
              <a:rPr sz="1800" b="0" dirty="0">
                <a:solidFill>
                  <a:srgbClr val="0C274A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C274A"/>
                </a:solidFill>
                <a:latin typeface="Arial"/>
              </a:rPr>
              <a:t>классификации</a:t>
            </a:r>
            <a:r>
              <a:rPr sz="1800" b="0" dirty="0">
                <a:solidFill>
                  <a:srgbClr val="0C274A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C274A"/>
                </a:solidFill>
                <a:latin typeface="Arial"/>
              </a:rPr>
              <a:t>финансовых</a:t>
            </a:r>
            <a:r>
              <a:rPr sz="1800" b="0" dirty="0">
                <a:solidFill>
                  <a:srgbClr val="0C274A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C274A"/>
                </a:solidFill>
                <a:latin typeface="Arial"/>
              </a:rPr>
              <a:t>транзакций</a:t>
            </a:r>
            <a:r>
              <a:rPr sz="1800" b="0" dirty="0">
                <a:solidFill>
                  <a:srgbClr val="0C274A"/>
                </a:solidFill>
                <a:latin typeface="Arial"/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sz="1700" b="0" dirty="0" err="1">
                <a:solidFill>
                  <a:srgbClr val="546780"/>
                </a:solidFill>
                <a:latin typeface="Arial"/>
              </a:rPr>
              <a:t>Дополнительно</a:t>
            </a:r>
            <a:r>
              <a:rPr sz="1700" b="0" dirty="0">
                <a:solidFill>
                  <a:srgbClr val="546780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546780"/>
                </a:solidFill>
                <a:latin typeface="Arial"/>
              </a:rPr>
              <a:t>показать</a:t>
            </a:r>
            <a:r>
              <a:rPr sz="1700" b="0" dirty="0">
                <a:solidFill>
                  <a:srgbClr val="546780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546780"/>
                </a:solidFill>
                <a:latin typeface="Arial"/>
              </a:rPr>
              <a:t>расширение</a:t>
            </a:r>
            <a:r>
              <a:rPr sz="1700" b="0" dirty="0">
                <a:solidFill>
                  <a:srgbClr val="546780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546780"/>
                </a:solidFill>
                <a:latin typeface="Arial"/>
              </a:rPr>
              <a:t>архитектуры</a:t>
            </a:r>
            <a:r>
              <a:rPr sz="1700" b="0" dirty="0">
                <a:solidFill>
                  <a:srgbClr val="546780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546780"/>
                </a:solidFill>
                <a:latin typeface="Arial"/>
              </a:rPr>
              <a:t>через</a:t>
            </a:r>
            <a:r>
              <a:rPr sz="1700" b="0" dirty="0">
                <a:solidFill>
                  <a:srgbClr val="546780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546780"/>
                </a:solidFill>
                <a:latin typeface="Arial"/>
              </a:rPr>
              <a:t>агента</a:t>
            </a:r>
            <a:r>
              <a:rPr sz="1700" b="0" dirty="0">
                <a:solidFill>
                  <a:srgbClr val="546780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546780"/>
                </a:solidFill>
                <a:latin typeface="Arial"/>
              </a:rPr>
              <a:t>финансовых</a:t>
            </a:r>
            <a:r>
              <a:rPr sz="1700" b="0" dirty="0">
                <a:solidFill>
                  <a:srgbClr val="546780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546780"/>
                </a:solidFill>
                <a:latin typeface="Arial"/>
              </a:rPr>
              <a:t>рекомендаций</a:t>
            </a:r>
            <a:r>
              <a:rPr sz="1700" b="0" dirty="0">
                <a:solidFill>
                  <a:srgbClr val="546780"/>
                </a:solidFill>
                <a:latin typeface="Arial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325880"/>
            <a:ext cx="3063240" cy="3520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0C274A"/>
                </a:solidFill>
                <a:latin typeface="Arial"/>
              </a:rPr>
              <a:t>Предмет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LLM-agent внутри backend-сервиса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Spring/Kotlin интеграция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Kafka-события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метрики качества и стоимости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5394960"/>
            <a:ext cx="2240280" cy="411480"/>
          </a:xfrm>
          <a:prstGeom prst="roundRect">
            <a:avLst/>
          </a:prstGeom>
          <a:solidFill>
            <a:srgbClr val="E8F1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C274A"/>
                </a:solidFill>
                <a:latin typeface="Arial"/>
              </a:rPr>
              <a:t>transaction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5394960"/>
            <a:ext cx="2240280" cy="411480"/>
          </a:xfrm>
          <a:prstGeom prst="roundRect">
            <a:avLst/>
          </a:prstGeom>
          <a:solidFill>
            <a:srgbClr val="E8F1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C274A"/>
                </a:solidFill>
                <a:latin typeface="Arial"/>
              </a:rPr>
              <a:t>LLM fallback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5394960"/>
            <a:ext cx="2240280" cy="411480"/>
          </a:xfrm>
          <a:prstGeom prst="roundRect">
            <a:avLst/>
          </a:prstGeom>
          <a:solidFill>
            <a:srgbClr val="E8F1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C274A"/>
                </a:solidFill>
                <a:latin typeface="Arial"/>
              </a:rPr>
              <a:t>AI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5394960"/>
            <a:ext cx="2240280" cy="411480"/>
          </a:xfrm>
          <a:prstGeom prst="roundRect">
            <a:avLst/>
          </a:prstGeom>
          <a:solidFill>
            <a:srgbClr val="E8F1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C274A"/>
                </a:solidFill>
                <a:latin typeface="Arial"/>
              </a:rPr>
              <a:t>measurable effect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C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50040" y="0"/>
            <a:ext cx="438912" cy="6858000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-777240"/>
            <a:ext cx="2560320" cy="2560320"/>
          </a:xfrm>
          <a:prstGeom prst="ellipse">
            <a:avLst/>
          </a:prstGeom>
          <a:solidFill>
            <a:srgbClr val="D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607040" cy="59436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0C274A"/>
                </a:solidFill>
                <a:latin typeface="Arial"/>
              </a:rPr>
              <a:t>Глава 1. Теоретические основы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914400" cy="621792"/>
          </a:xfrm>
          <a:prstGeom prst="roundRect">
            <a:avLst/>
          </a:prstGeom>
          <a:solidFill>
            <a:srgbClr val="0C274A"/>
          </a:solidFill>
          <a:ln w="13970">
            <a:solidFill>
              <a:srgbClr val="0C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19" y="1234440"/>
            <a:ext cx="9006840" cy="6217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C274A"/>
                </a:solidFill>
                <a:latin typeface="Arial"/>
              </a:rPr>
              <a:t>Бизнес-процесс и оптимизация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46780"/>
                </a:solidFill>
                <a:latin typeface="Arial"/>
              </a:rPr>
              <a:t>что оптимизируется: время, стоимость, качество, доля ручной работы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57400"/>
            <a:ext cx="914400" cy="621792"/>
          </a:xfrm>
          <a:prstGeom prst="roundRect">
            <a:avLst/>
          </a:prstGeom>
          <a:solidFill>
            <a:srgbClr val="0C274A"/>
          </a:solidFill>
          <a:ln w="13970">
            <a:solidFill>
              <a:srgbClr val="0C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74519" y="2057400"/>
            <a:ext cx="9006840" cy="6217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C274A"/>
                </a:solidFill>
                <a:latin typeface="Arial"/>
              </a:rPr>
              <a:t>Эволюция автоматизации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46780"/>
                </a:solidFill>
                <a:latin typeface="Arial"/>
              </a:rPr>
              <a:t>правила, RPA, ML и LLM как разные уровни автоматизации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80360"/>
            <a:ext cx="914400" cy="621792"/>
          </a:xfrm>
          <a:prstGeom prst="roundRect">
            <a:avLst/>
          </a:prstGeom>
          <a:solidFill>
            <a:srgbClr val="0C274A"/>
          </a:solidFill>
          <a:ln w="13970">
            <a:solidFill>
              <a:srgbClr val="0C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1.3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2880360"/>
            <a:ext cx="9006840" cy="6217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C274A"/>
                </a:solidFill>
                <a:latin typeface="Arial"/>
              </a:rPr>
              <a:t>AI-агенты и LLM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46780"/>
                </a:solidFill>
                <a:latin typeface="Arial"/>
              </a:rPr>
              <a:t>не все AI-агенты обязаны быть LLM-based, но в этой работе LLM является ядром агента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03320"/>
            <a:ext cx="914400" cy="621792"/>
          </a:xfrm>
          <a:prstGeom prst="roundRect">
            <a:avLst/>
          </a:prstGeom>
          <a:solidFill>
            <a:srgbClr val="0C274A"/>
          </a:solidFill>
          <a:ln w="13970">
            <a:solidFill>
              <a:srgbClr val="0C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1.4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19" y="3703320"/>
            <a:ext cx="9006840" cy="6217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C274A"/>
                </a:solidFill>
                <a:latin typeface="Arial"/>
              </a:rPr>
              <a:t>Метрики эффективности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46780"/>
                </a:solidFill>
                <a:latin typeface="Arial"/>
              </a:rPr>
              <a:t>accuracy, fallback rate, latency, cost, usefulness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526280"/>
            <a:ext cx="914400" cy="621792"/>
          </a:xfrm>
          <a:prstGeom prst="roundRect">
            <a:avLst/>
          </a:prstGeom>
          <a:solidFill>
            <a:srgbClr val="0C274A"/>
          </a:solidFill>
          <a:ln w="13970">
            <a:solidFill>
              <a:srgbClr val="0C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1.5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74519" y="4526280"/>
            <a:ext cx="9006840" cy="6217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C274A"/>
                </a:solidFill>
                <a:latin typeface="Arial"/>
              </a:rPr>
              <a:t>Java/Kotlin и Spring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46780"/>
                </a:solidFill>
                <a:latin typeface="Arial"/>
              </a:rPr>
              <a:t>почему AI удобно встраивать в существующий JVM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96128"/>
            <a:ext cx="10058400" cy="50292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C274A"/>
                </a:solidFill>
                <a:latin typeface="Arial"/>
              </a:rPr>
              <a:t>На выступлении этот слайд задаёт карту первой главы: от общих бизнес-процессов к конкретной технологии внедрения.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C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50040" y="0"/>
            <a:ext cx="438912" cy="6858000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-777240"/>
            <a:ext cx="2560320" cy="2560320"/>
          </a:xfrm>
          <a:prstGeom prst="ellipse">
            <a:avLst/>
          </a:prstGeom>
          <a:solidFill>
            <a:srgbClr val="D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607040" cy="59436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0C274A"/>
                </a:solidFill>
                <a:latin typeface="Arial"/>
              </a:rPr>
              <a:t>Почему Java/Kotlin и Spring важны для темы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291840" cy="3474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C274A"/>
                </a:solidFill>
                <a:latin typeface="Arial"/>
              </a:rPr>
              <a:t>Enterprise-контекст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Java/JVM часто уже присутствуют в backend-ландшафте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AI проще внедрять рядом с существующими сервисами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меньше межъязыковых интеграций и runtime-слоёв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291840" cy="3474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C274A"/>
                </a:solidFill>
                <a:latin typeface="Arial"/>
              </a:rPr>
              <a:t>Kotlin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совместим с Java-библиотеками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меньше шаблонного кода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удобен для DTO, сервисов и конфигурации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325880"/>
            <a:ext cx="3291840" cy="3474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C274A"/>
                </a:solidFill>
                <a:latin typeface="Arial"/>
              </a:rPr>
              <a:t>Spring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Spring Boot для микросервисов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Spring Kafka для событий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Spring AI для ChatClient и tools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Actuator/Micrometer для метрик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40680"/>
            <a:ext cx="10241280" cy="50292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0C274A"/>
                </a:solidFill>
                <a:latin typeface="Arial"/>
              </a:rPr>
              <a:t>Обоснование выбора: стек понятен Java/Kotlin-командам и допускает тонкую настройку интеграций, логирования, retry и контрактов.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C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50040" y="0"/>
            <a:ext cx="438912" cy="6858000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-777240"/>
            <a:ext cx="2560320" cy="2560320"/>
          </a:xfrm>
          <a:prstGeom prst="ellipse">
            <a:avLst/>
          </a:prstGeom>
          <a:solidFill>
            <a:srgbClr val="D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607040" cy="59436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0C274A"/>
                </a:solidFill>
                <a:latin typeface="Arial"/>
              </a:rPr>
              <a:t>Глава 2. Анализ существующих AI-внедрений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2834640" cy="621792"/>
          </a:xfrm>
          <a:prstGeom prst="roundRect">
            <a:avLst/>
          </a:prstGeom>
          <a:solidFill>
            <a:srgbClr val="0C274A"/>
          </a:solidFill>
          <a:ln w="13970">
            <a:solidFill>
              <a:srgbClr val="0C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Клиентская поддержка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234440"/>
            <a:ext cx="7040880" cy="6217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+14% productivity в NBER-исследовании; Klarna: 2/3 чатов AI assistant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57400"/>
            <a:ext cx="2834640" cy="621792"/>
          </a:xfrm>
          <a:prstGeom prst="roundRect">
            <a:avLst/>
          </a:prstGeom>
          <a:solidFill>
            <a:srgbClr val="0C274A"/>
          </a:solidFill>
          <a:ln w="13970">
            <a:solidFill>
              <a:srgbClr val="0C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Страхование / claims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2057400"/>
            <a:ext cx="7040880" cy="6217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автоматизация извлечения данных, triage и первичной оценки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80360"/>
            <a:ext cx="2834640" cy="621792"/>
          </a:xfrm>
          <a:prstGeom prst="roundRect">
            <a:avLst/>
          </a:prstGeom>
          <a:solidFill>
            <a:srgbClr val="0C274A"/>
          </a:solidFill>
          <a:ln w="13970">
            <a:solidFill>
              <a:srgbClr val="0C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Кредитование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2880360"/>
            <a:ext cx="7040880" cy="6217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ускорение предварительной проверки и анализа документов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03320"/>
            <a:ext cx="2834640" cy="621792"/>
          </a:xfrm>
          <a:prstGeom prst="roundRect">
            <a:avLst/>
          </a:prstGeom>
          <a:solidFill>
            <a:srgbClr val="0C274A"/>
          </a:solidFill>
          <a:ln w="13970">
            <a:solidFill>
              <a:srgbClr val="0C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Документооборот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3703320"/>
            <a:ext cx="7040880" cy="6217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извлечение реквизитов, классификация, поиск несоответствий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526280"/>
            <a:ext cx="2834640" cy="621792"/>
          </a:xfrm>
          <a:prstGeom prst="roundRect">
            <a:avLst/>
          </a:prstGeom>
          <a:solidFill>
            <a:srgbClr val="0C274A"/>
          </a:solidFill>
          <a:ln w="13970">
            <a:solidFill>
              <a:srgbClr val="0C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Разработка ПО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4526280"/>
            <a:ext cx="7040880" cy="6217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GitHub Copilot: 55% faster completion в эксперименте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32120"/>
            <a:ext cx="10149840" cy="530352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0C274A"/>
                </a:solidFill>
                <a:latin typeface="Arial"/>
              </a:rPr>
              <a:t>Задача главы: показать измеримые эффекты AI в реальных процессах и вывести требования к собственному прототипу.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C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50040" y="0"/>
            <a:ext cx="438912" cy="6858000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-777240"/>
            <a:ext cx="2560320" cy="2560320"/>
          </a:xfrm>
          <a:prstGeom prst="ellipse">
            <a:avLst/>
          </a:prstGeom>
          <a:solidFill>
            <a:srgbClr val="D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607040" cy="59436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0C274A"/>
                </a:solidFill>
                <a:latin typeface="Arial"/>
              </a:rPr>
              <a:t>Сравнение технологий реализации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61872"/>
            <a:ext cx="1965960" cy="457200"/>
          </a:xfrm>
          <a:prstGeom prst="rect">
            <a:avLst/>
          </a:prstGeom>
          <a:solidFill>
            <a:srgbClr val="0C274A"/>
          </a:solidFill>
          <a:ln w="13970">
            <a:solidFill>
              <a:srgbClr val="0C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Подход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261872"/>
            <a:ext cx="2926080" cy="457200"/>
          </a:xfrm>
          <a:prstGeom prst="rect">
            <a:avLst/>
          </a:prstGeom>
          <a:solidFill>
            <a:srgbClr val="0C274A"/>
          </a:solidFill>
          <a:ln w="13970">
            <a:solidFill>
              <a:srgbClr val="0C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Сильная сторона</a:t>
            </a:r>
          </a:p>
        </p:txBody>
      </p:sp>
      <p:sp>
        <p:nvSpPr>
          <p:cNvPr id="9" name="Rectangle 8"/>
          <p:cNvSpPr/>
          <p:nvPr/>
        </p:nvSpPr>
        <p:spPr>
          <a:xfrm>
            <a:off x="5650992" y="1261872"/>
            <a:ext cx="2926080" cy="457200"/>
          </a:xfrm>
          <a:prstGeom prst="rect">
            <a:avLst/>
          </a:prstGeom>
          <a:solidFill>
            <a:srgbClr val="0C274A"/>
          </a:solidFill>
          <a:ln w="13970">
            <a:solidFill>
              <a:srgbClr val="0C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Ограничение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261872"/>
            <a:ext cx="2743200" cy="457200"/>
          </a:xfrm>
          <a:prstGeom prst="rect">
            <a:avLst/>
          </a:prstGeom>
          <a:solidFill>
            <a:srgbClr val="0C274A"/>
          </a:solidFill>
          <a:ln w="13970">
            <a:solidFill>
              <a:srgbClr val="0C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Роль в работе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196596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0C274A"/>
                </a:solidFill>
                <a:latin typeface="Arial"/>
              </a:rPr>
              <a:t>API языковых моделей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1783080"/>
            <a:ext cx="292608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0C274A"/>
                </a:solidFill>
                <a:latin typeface="Arial"/>
              </a:rPr>
              <a:t>быстрый доступ к сильным моделям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50992" y="1783080"/>
            <a:ext cx="292608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0C274A"/>
                </a:solidFill>
                <a:latin typeface="Arial"/>
              </a:rPr>
              <a:t>стоимость, задержка, зависимость от провайдера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1783080"/>
            <a:ext cx="274320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0C274A"/>
                </a:solidFill>
                <a:latin typeface="Arial"/>
              </a:rPr>
              <a:t>внешний слой вывода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96312"/>
            <a:ext cx="196596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0C274A"/>
                </a:solidFill>
                <a:latin typeface="Arial"/>
              </a:rPr>
              <a:t>Python-фреймворки агентов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2496312"/>
            <a:ext cx="292608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0C274A"/>
                </a:solidFill>
                <a:latin typeface="Arial"/>
              </a:rPr>
              <a:t>богатая экосистема экспериментов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50992" y="2496312"/>
            <a:ext cx="292608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0C274A"/>
                </a:solidFill>
                <a:latin typeface="Arial"/>
              </a:rPr>
              <a:t>отдельный стек и runtime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2496312"/>
            <a:ext cx="274320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0C274A"/>
                </a:solidFill>
                <a:latin typeface="Arial"/>
              </a:rPr>
              <a:t>исследования и быстрые прототипы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09544"/>
            <a:ext cx="196596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0C274A"/>
                </a:solidFill>
                <a:latin typeface="Arial"/>
              </a:rPr>
              <a:t>Spring 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3209544"/>
            <a:ext cx="292608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0C274A"/>
                </a:solidFill>
                <a:latin typeface="Arial"/>
              </a:rPr>
              <a:t>нативно для Spring-приложений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50992" y="3209544"/>
            <a:ext cx="292608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0C274A"/>
                </a:solidFill>
                <a:latin typeface="Arial"/>
              </a:rPr>
              <a:t>экосистема моложе Python-стека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3209544"/>
            <a:ext cx="274320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0C274A"/>
                </a:solidFill>
                <a:latin typeface="Arial"/>
              </a:rPr>
              <a:t>основа прототипа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922776"/>
            <a:ext cx="196596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0C274A"/>
                </a:solidFill>
                <a:latin typeface="Arial"/>
              </a:rPr>
              <a:t>Apache Kafka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3922776"/>
            <a:ext cx="292608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0C274A"/>
                </a:solidFill>
                <a:latin typeface="Arial"/>
              </a:rPr>
              <a:t>асинхронность и масштабирование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50992" y="3922776"/>
            <a:ext cx="292608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0C274A"/>
                </a:solidFill>
                <a:latin typeface="Arial"/>
              </a:rPr>
              <a:t>нужны схемы и идемпотентность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3922776"/>
            <a:ext cx="274320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0C274A"/>
                </a:solidFill>
                <a:latin typeface="Arial"/>
              </a:rPr>
              <a:t>шина событий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636008"/>
            <a:ext cx="196596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0C274A"/>
                </a:solidFill>
                <a:latin typeface="Arial"/>
              </a:rPr>
              <a:t>PostgreSQL JSONB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06040" y="4636008"/>
            <a:ext cx="292608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0C274A"/>
                </a:solidFill>
                <a:latin typeface="Arial"/>
              </a:rPr>
              <a:t>структурные данные + гибкость AI-метаданных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50992" y="4636008"/>
            <a:ext cx="292608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0C274A"/>
                </a:solidFill>
                <a:latin typeface="Arial"/>
              </a:rPr>
              <a:t>нужен контроль формата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0" y="4636008"/>
            <a:ext cx="274320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0C274A"/>
                </a:solidFill>
                <a:latin typeface="Arial"/>
              </a:rPr>
              <a:t>хранилище результатов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669280"/>
            <a:ext cx="10424160" cy="475488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C274A"/>
                </a:solidFill>
                <a:latin typeface="Arial"/>
              </a:rPr>
              <a:t>Вывод: для JVM-микросервисов рационально внедрять AI-агента в Spring/Kotlin-стек, а долгие LLM-вызовы выносить в event-driven обработку.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C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50040" y="0"/>
            <a:ext cx="438912" cy="6858000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-777240"/>
            <a:ext cx="2560320" cy="2560320"/>
          </a:xfrm>
          <a:prstGeom prst="ellipse">
            <a:avLst/>
          </a:prstGeom>
          <a:solidFill>
            <a:srgbClr val="D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607040" cy="59436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0C274A"/>
                </a:solidFill>
                <a:latin typeface="Arial"/>
              </a:rPr>
              <a:t>Глава 3. Прототип FinSense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474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0C274A"/>
                </a:solidFill>
                <a:latin typeface="Arial"/>
              </a:rPr>
              <a:t>Синтетический кейс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не production banking system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создан для демонстрации AI-внедрения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моделирует обработку транзакций и рекомендации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200400" cy="3474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0C274A"/>
                </a:solidFill>
                <a:latin typeface="Arial"/>
              </a:rPr>
              <a:t>Основная оптимизация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transaction classification flow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low-confidence транзакции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LLM fallback вместо ручного разбора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контроль стоимости через threshold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25880"/>
            <a:ext cx="3200400" cy="3474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0C274A"/>
                </a:solidFill>
                <a:latin typeface="Arial"/>
              </a:rPr>
              <a:t>Дополнительный агент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Financial Coach Agent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персональные рекомендации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tools анализа расходов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демонстрация расширяемости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440680"/>
            <a:ext cx="10058400" cy="50292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0C274A"/>
                </a:solidFill>
                <a:latin typeface="Arial"/>
              </a:rPr>
              <a:t>Прототип нужен не как банковский продукт, а как проверка архитектурного паттерна внедрения AI-агента.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C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50040" y="0"/>
            <a:ext cx="438912" cy="6858000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-777240"/>
            <a:ext cx="2560320" cy="2560320"/>
          </a:xfrm>
          <a:prstGeom prst="ellipse">
            <a:avLst/>
          </a:prstGeom>
          <a:solidFill>
            <a:srgbClr val="D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607040" cy="59436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0C274A"/>
                </a:solidFill>
                <a:latin typeface="Arial"/>
              </a:rPr>
              <a:t>Архитектура прототипа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224028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0C274A"/>
                </a:solidFill>
                <a:latin typeface="Arial"/>
              </a:rPr>
              <a:t>Core Service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46780"/>
                </a:solidFill>
                <a:latin typeface="Arial"/>
              </a:rPr>
              <a:t>оркестрация, REST, БД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234440"/>
            <a:ext cx="224028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0C274A"/>
                </a:solidFill>
                <a:latin typeface="Arial"/>
              </a:rPr>
              <a:t>Classifier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46780"/>
                </a:solidFill>
                <a:latin typeface="Arial"/>
              </a:rPr>
              <a:t>быстрая классификация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234440"/>
            <a:ext cx="2240280" cy="914400"/>
          </a:xfrm>
          <a:prstGeom prst="roundRect">
            <a:avLst/>
          </a:prstGeom>
          <a:solidFill>
            <a:srgbClr val="E8F1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0C274A"/>
                </a:solidFill>
                <a:latin typeface="Arial"/>
              </a:rPr>
              <a:t>LLM Classifier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46780"/>
                </a:solidFill>
                <a:latin typeface="Arial"/>
              </a:rPr>
              <a:t>основной AI-агент оптимизации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234440"/>
            <a:ext cx="2240280" cy="914400"/>
          </a:xfrm>
          <a:prstGeom prst="roundRect">
            <a:avLst/>
          </a:prstGeom>
          <a:solidFill>
            <a:srgbClr val="E8F1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0C274A"/>
                </a:solidFill>
                <a:latin typeface="Arial"/>
              </a:rPr>
              <a:t>Financial Coach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46780"/>
                </a:solidFill>
                <a:latin typeface="Arial"/>
              </a:rPr>
              <a:t>дополнительный AI-агент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3474720"/>
            <a:ext cx="310896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0C274A"/>
                </a:solidFill>
                <a:latin typeface="Arial"/>
              </a:rPr>
              <a:t>Kafka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46780"/>
                </a:solidFill>
                <a:latin typeface="Arial"/>
              </a:rPr>
              <a:t>topics и асинхронные события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474720"/>
            <a:ext cx="310896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0C274A"/>
                </a:solidFill>
                <a:latin typeface="Arial"/>
              </a:rPr>
              <a:t>PostgreSQL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46780"/>
                </a:solidFill>
                <a:latin typeface="Arial"/>
              </a:rPr>
              <a:t>транзакции, рекомендации, JSONB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26080" y="1691640"/>
            <a:ext cx="2743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486400" y="1691640"/>
            <a:ext cx="2743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046720" y="1691640"/>
            <a:ext cx="2743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5532120"/>
            <a:ext cx="10149840" cy="50292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0C274A"/>
                </a:solidFill>
                <a:latin typeface="Arial"/>
              </a:rPr>
              <a:t>Ключевой принцип: LLM-компоненты изолированы как event-driven workers и не блокируют быстрый путь обработки.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C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50040" y="0"/>
            <a:ext cx="438912" cy="6858000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-777240"/>
            <a:ext cx="2560320" cy="2560320"/>
          </a:xfrm>
          <a:prstGeom prst="ellipse">
            <a:avLst/>
          </a:prstGeom>
          <a:solidFill>
            <a:srgbClr val="D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607040" cy="59436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0C274A"/>
                </a:solidFill>
                <a:latin typeface="Arial"/>
              </a:rPr>
              <a:t>Основная оптимизация: Transaction Classifier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828800" cy="960120"/>
          </a:xfrm>
          <a:prstGeom prst="roundRect">
            <a:avLst/>
          </a:prstGeom>
          <a:solidFill>
            <a:srgbClr val="0C274A"/>
          </a:solidFill>
          <a:ln w="13970">
            <a:solidFill>
              <a:srgbClr val="0C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сырая транзакция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14600" y="1810512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063240" y="1325880"/>
            <a:ext cx="1828800" cy="960120"/>
          </a:xfrm>
          <a:prstGeom prst="roundRect">
            <a:avLst/>
          </a:prstGeom>
          <a:solidFill>
            <a:srgbClr val="0C274A"/>
          </a:solidFill>
          <a:ln w="13970">
            <a:solidFill>
              <a:srgbClr val="0C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быстрый классификатор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83480" y="1810512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32120" y="1325880"/>
            <a:ext cx="1828800" cy="960120"/>
          </a:xfrm>
          <a:prstGeom prst="roundRect">
            <a:avLst/>
          </a:prstGeom>
          <a:solidFill>
            <a:srgbClr val="0C274A"/>
          </a:solidFill>
          <a:ln w="13970">
            <a:solidFill>
              <a:srgbClr val="0C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confidence gate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52360" y="1810512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01000" y="1325880"/>
            <a:ext cx="1828800" cy="960120"/>
          </a:xfrm>
          <a:prstGeom prst="roundRect">
            <a:avLst/>
          </a:prstGeom>
          <a:solidFill>
            <a:srgbClr val="2563EB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LLM fallback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21240" y="1810512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469880" y="1325880"/>
            <a:ext cx="1234440" cy="960120"/>
          </a:xfrm>
          <a:prstGeom prst="roundRect">
            <a:avLst/>
          </a:prstGeom>
          <a:solidFill>
            <a:srgbClr val="15803D"/>
          </a:solidFill>
          <a:ln w="1397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результат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063240"/>
            <a:ext cx="4983480" cy="1645920"/>
          </a:xfrm>
          <a:prstGeom prst="roundRect">
            <a:avLst/>
          </a:prstGeom>
          <a:solidFill>
            <a:srgbClr val="E8F1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C274A"/>
                </a:solidFill>
                <a:latin typeface="Arial"/>
              </a:rPr>
              <a:t>Почему это агент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0C274A"/>
                </a:solidFill>
                <a:latin typeface="Arial"/>
              </a:rPr>
              <a:t>• получает событие из процесса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0C274A"/>
                </a:solidFill>
                <a:latin typeface="Arial"/>
              </a:rPr>
              <a:t>• использует контекст транзакции и историю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0C274A"/>
                </a:solidFill>
                <a:latin typeface="Arial"/>
              </a:rPr>
              <a:t>• принимает решение в ограниченной предметной области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0C274A"/>
                </a:solidFill>
                <a:latin typeface="Arial"/>
              </a:rPr>
              <a:t>• возвращает результат в Kafka/Core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063240"/>
            <a:ext cx="4983480" cy="1645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C274A"/>
                </a:solidFill>
                <a:latin typeface="Arial"/>
              </a:rPr>
              <a:t>Что оптимизируется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0C274A"/>
                </a:solidFill>
                <a:latin typeface="Arial"/>
              </a:rPr>
              <a:t>• меньше неопределённых транзакций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0C274A"/>
                </a:solidFill>
                <a:latin typeface="Arial"/>
              </a:rPr>
              <a:t>• меньше ручной проверки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0C274A"/>
                </a:solidFill>
                <a:latin typeface="Arial"/>
              </a:rPr>
              <a:t>• основной поток остаётся быстрым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0C274A"/>
                </a:solidFill>
                <a:latin typeface="Arial"/>
              </a:rPr>
              <a:t>• LLM вызывается только при низкой уверенности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32120"/>
            <a:ext cx="10149840" cy="50292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2563EB"/>
                </a:solidFill>
                <a:latin typeface="Arial"/>
              </a:rPr>
              <a:t>Это центральный AI-агент диплома: он улучшает существующий transaction flow, а не просто добавляет новую функцию.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C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50040" y="0"/>
            <a:ext cx="438912" cy="6858000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-777240"/>
            <a:ext cx="2560320" cy="2560320"/>
          </a:xfrm>
          <a:prstGeom prst="ellipse">
            <a:avLst/>
          </a:prstGeom>
          <a:solidFill>
            <a:srgbClr val="D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607040" cy="59436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0C274A"/>
                </a:solidFill>
                <a:latin typeface="Arial"/>
              </a:rPr>
              <a:t>Дополнительный сценарий: Financial Coach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98448"/>
            <a:ext cx="219456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0C274A"/>
                </a:solidFill>
                <a:latin typeface="Arial"/>
              </a:rPr>
              <a:t>Вход</a:t>
            </a:r>
          </a:p>
          <a:p>
            <a:pPr algn="ctr">
              <a:spcAft>
                <a:spcPts val="300"/>
              </a:spcAft>
            </a:pPr>
            <a:r>
              <a:rPr sz="1400" b="0">
                <a:solidFill>
                  <a:srgbClr val="546780"/>
                </a:solidFill>
                <a:latin typeface="Arial"/>
              </a:rPr>
              <a:t>requestId, userId, период, вопрос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360" y="1783080"/>
            <a:ext cx="5029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20440" y="1298448"/>
            <a:ext cx="219456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0C274A"/>
                </a:solidFill>
                <a:latin typeface="Arial"/>
              </a:rPr>
              <a:t>Tools</a:t>
            </a:r>
          </a:p>
          <a:p>
            <a:pPr algn="ctr">
              <a:spcAft>
                <a:spcPts val="300"/>
              </a:spcAft>
            </a:pPr>
            <a:r>
              <a:rPr sz="1400" b="0">
                <a:solidFill>
                  <a:srgbClr val="546780"/>
                </a:solidFill>
                <a:latin typeface="Arial"/>
              </a:rPr>
              <a:t>SQL-агрегаты расходов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60720" y="1783080"/>
            <a:ext cx="5029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0" y="1298448"/>
            <a:ext cx="219456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0C274A"/>
                </a:solidFill>
                <a:latin typeface="Arial"/>
              </a:rPr>
              <a:t>LLM</a:t>
            </a:r>
          </a:p>
          <a:p>
            <a:pPr algn="ctr">
              <a:spcAft>
                <a:spcPts val="300"/>
              </a:spcAft>
            </a:pPr>
            <a:r>
              <a:rPr sz="1400" b="0">
                <a:solidFill>
                  <a:srgbClr val="546780"/>
                </a:solidFill>
                <a:latin typeface="Arial"/>
              </a:rPr>
              <a:t>совет на основе фактов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41080" y="1783080"/>
            <a:ext cx="5029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281160" y="1298448"/>
            <a:ext cx="219456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0C274A"/>
                </a:solidFill>
                <a:latin typeface="Arial"/>
              </a:rPr>
              <a:t>Выход</a:t>
            </a:r>
          </a:p>
          <a:p>
            <a:pPr algn="ctr">
              <a:spcAft>
                <a:spcPts val="300"/>
              </a:spcAft>
            </a:pPr>
            <a:r>
              <a:rPr sz="1400" b="0">
                <a:solidFill>
                  <a:srgbClr val="546780"/>
                </a:solidFill>
                <a:latin typeface="Arial"/>
              </a:rPr>
              <a:t>DB + coach-responses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154680"/>
            <a:ext cx="4709160" cy="1600200"/>
          </a:xfrm>
          <a:prstGeom prst="roundRect">
            <a:avLst/>
          </a:prstGeom>
          <a:solidFill>
            <a:srgbClr val="E8F1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C274A"/>
                </a:solidFill>
                <a:latin typeface="Arial"/>
              </a:rPr>
              <a:t>Роль в дипломе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0C274A"/>
                </a:solidFill>
                <a:latin typeface="Arial"/>
              </a:rPr>
              <a:t>• второй AI-агент в той же архитектуре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0C274A"/>
                </a:solidFill>
                <a:latin typeface="Arial"/>
              </a:rPr>
              <a:t>• демонстрация tool-based подхода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0C274A"/>
                </a:solidFill>
                <a:latin typeface="Arial"/>
              </a:rPr>
              <a:t>• дополнительная ценность после классификации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3154680"/>
            <a:ext cx="470916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C274A"/>
                </a:solidFill>
                <a:latin typeface="Arial"/>
              </a:rPr>
              <a:t>Почему это не главный оптимизатор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0C274A"/>
                </a:solidFill>
                <a:latin typeface="Arial"/>
              </a:rPr>
              <a:t>• он расширяет функциональность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0C274A"/>
                </a:solidFill>
                <a:latin typeface="Arial"/>
              </a:rPr>
              <a:t>• а не решает исходную проблему классификации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0C274A"/>
                </a:solidFill>
                <a:latin typeface="Arial"/>
              </a:rPr>
              <a:t>• поэтому основной фокус остаётся на LLM Classifier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532120"/>
            <a:ext cx="10149840" cy="50292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0C274A"/>
                </a:solidFill>
                <a:latin typeface="Arial"/>
              </a:rPr>
              <a:t>Financial Coach Agent показывает, что выбранный паттерн можно масштабировать на новые агентные сценарии.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C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50040" y="0"/>
            <a:ext cx="438912" cy="6858000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-777240"/>
            <a:ext cx="2560320" cy="2560320"/>
          </a:xfrm>
          <a:prstGeom prst="ellipse">
            <a:avLst/>
          </a:prstGeom>
          <a:solidFill>
            <a:srgbClr val="D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607040" cy="59436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0C274A"/>
                </a:solidFill>
                <a:latin typeface="Arial"/>
              </a:rPr>
              <a:t>Ожидаемый эффект оптимизации: до и после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60120"/>
            <a:ext cx="9966960" cy="329184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46780"/>
                </a:solidFill>
                <a:latin typeface="Arial"/>
              </a:rPr>
              <a:t>демонстрационные метрики MVP на синтетическом наборе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2377440" cy="32004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C274A"/>
                </a:solidFill>
                <a:latin typeface="Arial"/>
              </a:rPr>
              <a:t>Правильно классифицированные транзакции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64792"/>
            <a:ext cx="914400" cy="292608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0">
                <a:solidFill>
                  <a:srgbClr val="546780"/>
                </a:solidFill>
                <a:latin typeface="Arial"/>
              </a:rPr>
              <a:t>до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783080"/>
            <a:ext cx="2953512" cy="219456"/>
          </a:xfrm>
          <a:prstGeom prst="rect">
            <a:avLst/>
          </a:prstGeom>
          <a:solidFill>
            <a:srgbClr val="A3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40679" y="1719072"/>
            <a:ext cx="777240" cy="292608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46780"/>
                </a:solidFill>
                <a:latin typeface="Arial"/>
              </a:rPr>
              <a:t>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30552"/>
            <a:ext cx="914400" cy="292608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0">
                <a:solidFill>
                  <a:srgbClr val="0C274A"/>
                </a:solidFill>
                <a:latin typeface="Arial"/>
              </a:rPr>
              <a:t>после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2148840"/>
            <a:ext cx="3300984" cy="2194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40679" y="2084831"/>
            <a:ext cx="777240" cy="292608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C274A"/>
                </a:solidFill>
                <a:latin typeface="Arial"/>
              </a:rPr>
              <a:t>95%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43200"/>
            <a:ext cx="2377440" cy="32004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C274A"/>
                </a:solidFill>
                <a:latin typeface="Arial"/>
              </a:rPr>
              <a:t>Транзакции UNDEFINED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82112"/>
            <a:ext cx="914400" cy="292608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0">
                <a:solidFill>
                  <a:srgbClr val="546780"/>
                </a:solidFill>
                <a:latin typeface="Arial"/>
              </a:rPr>
              <a:t>до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3200400"/>
            <a:ext cx="277977" cy="219456"/>
          </a:xfrm>
          <a:prstGeom prst="rect">
            <a:avLst/>
          </a:prstGeom>
          <a:solidFill>
            <a:srgbClr val="A3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40679" y="3136392"/>
            <a:ext cx="777240" cy="292608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46780"/>
                </a:solidFill>
                <a:latin typeface="Arial"/>
              </a:rPr>
              <a:t>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547872"/>
            <a:ext cx="914400" cy="292608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0">
                <a:solidFill>
                  <a:srgbClr val="0C274A"/>
                </a:solidFill>
                <a:latin typeface="Arial"/>
              </a:rPr>
              <a:t>после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3566160"/>
            <a:ext cx="34747" cy="21945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40679" y="3502152"/>
            <a:ext cx="777240" cy="292608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C274A"/>
                </a:solidFill>
                <a:latin typeface="Arial"/>
              </a:rPr>
              <a:t>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160520"/>
            <a:ext cx="2377440" cy="32004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C274A"/>
                </a:solidFill>
                <a:latin typeface="Arial"/>
              </a:rPr>
              <a:t>Ручная проверка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99431"/>
            <a:ext cx="914400" cy="292608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0">
                <a:solidFill>
                  <a:srgbClr val="546780"/>
                </a:solidFill>
                <a:latin typeface="Arial"/>
              </a:rPr>
              <a:t>до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4617720"/>
            <a:ext cx="173736" cy="219456"/>
          </a:xfrm>
          <a:prstGeom prst="rect">
            <a:avLst/>
          </a:prstGeom>
          <a:solidFill>
            <a:srgbClr val="A3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40679" y="4553712"/>
            <a:ext cx="777240" cy="292608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46780"/>
                </a:solidFill>
                <a:latin typeface="Arial"/>
              </a:rPr>
              <a:t>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965192"/>
            <a:ext cx="914400" cy="292608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0">
                <a:solidFill>
                  <a:srgbClr val="0C274A"/>
                </a:solidFill>
                <a:latin typeface="Arial"/>
              </a:rPr>
              <a:t>после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4983480"/>
            <a:ext cx="17373" cy="21945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40679" y="4919472"/>
            <a:ext cx="777240" cy="292608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C274A"/>
                </a:solidFill>
                <a:latin typeface="Arial"/>
              </a:rPr>
              <a:t>0.5%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1325880"/>
            <a:ext cx="4251960" cy="2880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0C274A"/>
                </a:solidFill>
                <a:latin typeface="Arial"/>
              </a:rPr>
              <a:t>Интерпретация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0C274A"/>
                </a:solidFill>
                <a:latin typeface="Arial"/>
              </a:rPr>
              <a:t>• baseline: только rule/ML слой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0C274A"/>
                </a:solidFill>
                <a:latin typeface="Arial"/>
              </a:rPr>
              <a:t>• после: rule/ML + LLM fallback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0C274A"/>
                </a:solidFill>
                <a:latin typeface="Arial"/>
              </a:rPr>
              <a:t>• LLM вызывается не для всех операций, а для low-confidence сегмента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0C274A"/>
                </a:solidFill>
                <a:latin typeface="Arial"/>
              </a:rPr>
              <a:t>• результат требует проверки на размеченном наборе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4617720"/>
            <a:ext cx="4251960" cy="868680"/>
          </a:xfrm>
          <a:prstGeom prst="roundRect">
            <a:avLst/>
          </a:prstGeom>
          <a:solidFill>
            <a:srgbClr val="E8F1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0C274A"/>
                </a:solidFill>
                <a:latin typeface="Arial"/>
              </a:rPr>
              <a:t>Cost control</a:t>
            </a:r>
          </a:p>
          <a:p>
            <a:pPr algn="ctr">
              <a:spcAft>
                <a:spcPts val="300"/>
              </a:spcAft>
            </a:pPr>
            <a:r>
              <a:rPr sz="1700" b="1">
                <a:solidFill>
                  <a:srgbClr val="2563EB"/>
                </a:solidFill>
                <a:latin typeface="Arial"/>
              </a:rPr>
              <a:t>целевая доля LLM-вызовов: 5-10% потока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C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50040" y="0"/>
            <a:ext cx="438912" cy="6858000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-777240"/>
            <a:ext cx="2560320" cy="2560320"/>
          </a:xfrm>
          <a:prstGeom prst="ellipse">
            <a:avLst/>
          </a:prstGeom>
          <a:solidFill>
            <a:srgbClr val="D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607040" cy="59436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0C274A"/>
                </a:solidFill>
                <a:latin typeface="Arial"/>
              </a:rPr>
              <a:t>Методика экспериментальной оценки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33172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0C274A"/>
                </a:solidFill>
                <a:latin typeface="Arial"/>
              </a:rPr>
              <a:t>Качество</a:t>
            </a:r>
          </a:p>
          <a:p>
            <a:pPr algn="ctr">
              <a:spcAft>
                <a:spcPts val="300"/>
              </a:spcAft>
            </a:pPr>
            <a:r>
              <a:rPr sz="1500" b="0">
                <a:solidFill>
                  <a:srgbClr val="546780"/>
                </a:solidFill>
                <a:latin typeface="Arial"/>
              </a:rPr>
              <a:t>accuracy, доля UNDEFINED, manual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417320"/>
            <a:ext cx="233172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0C274A"/>
                </a:solidFill>
                <a:latin typeface="Arial"/>
              </a:rPr>
              <a:t>Операции</a:t>
            </a:r>
          </a:p>
          <a:p>
            <a:pPr algn="ctr">
              <a:spcAft>
                <a:spcPts val="300"/>
              </a:spcAft>
            </a:pPr>
            <a:r>
              <a:rPr sz="1500" b="0">
                <a:solidFill>
                  <a:srgbClr val="546780"/>
                </a:solidFill>
                <a:latin typeface="Arial"/>
              </a:rPr>
              <a:t>p95 latency, throughput, error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233172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0C274A"/>
                </a:solidFill>
                <a:latin typeface="Arial"/>
              </a:rPr>
              <a:t>Экономика</a:t>
            </a:r>
          </a:p>
          <a:p>
            <a:pPr algn="ctr">
              <a:spcAft>
                <a:spcPts val="300"/>
              </a:spcAft>
            </a:pPr>
            <a:r>
              <a:rPr sz="1500" b="0">
                <a:solidFill>
                  <a:srgbClr val="546780"/>
                </a:solidFill>
                <a:latin typeface="Arial"/>
              </a:rPr>
              <a:t>стоимость LLM-вызовов, cost per 1M tx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417320"/>
            <a:ext cx="233172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0C274A"/>
                </a:solidFill>
                <a:latin typeface="Arial"/>
              </a:rPr>
              <a:t>Продукт</a:t>
            </a:r>
          </a:p>
          <a:p>
            <a:pPr algn="ctr">
              <a:spcAft>
                <a:spcPts val="300"/>
              </a:spcAft>
            </a:pPr>
            <a:r>
              <a:rPr sz="1500" b="0">
                <a:solidFill>
                  <a:srgbClr val="546780"/>
                </a:solidFill>
                <a:latin typeface="Arial"/>
              </a:rPr>
              <a:t>полезность рекомендаций, 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57600"/>
            <a:ext cx="9966960" cy="1005840"/>
          </a:xfrm>
          <a:prstGeom prst="roundRect">
            <a:avLst/>
          </a:prstGeom>
          <a:solidFill>
            <a:srgbClr val="E8F1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0C274A"/>
                </a:solidFill>
                <a:latin typeface="Arial"/>
              </a:rPr>
              <a:t>Эксперимент</a:t>
            </a:r>
          </a:p>
          <a:p>
            <a:pPr algn="ctr">
              <a:spcAft>
                <a:spcPts val="300"/>
              </a:spcAft>
            </a:pPr>
            <a:r>
              <a:rPr sz="2000" b="1">
                <a:solidFill>
                  <a:srgbClr val="2563EB"/>
                </a:solidFill>
                <a:latin typeface="Arial"/>
              </a:rPr>
              <a:t>синтетический набор транзакций → baseline rule-only → hybrid rule/ML + LLM fallback → сравнение метрик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9966960" cy="59436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B91C1C"/>
                </a:solidFill>
                <a:latin typeface="Arial"/>
              </a:rPr>
              <a:t>Важно: результаты нужно явно отделять от production-метрик, так как бизнес-кейс синтетический.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C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50040" y="0"/>
            <a:ext cx="438912" cy="6858000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-777240"/>
            <a:ext cx="2560320" cy="2560320"/>
          </a:xfrm>
          <a:prstGeom prst="ellipse">
            <a:avLst/>
          </a:prstGeom>
          <a:solidFill>
            <a:srgbClr val="D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607040" cy="59436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0C274A"/>
                </a:solidFill>
                <a:latin typeface="Arial"/>
              </a:rPr>
              <a:t>Выводы и ожидаемый вклад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337560" cy="3611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0C274A"/>
                </a:solidFill>
                <a:latin typeface="Arial"/>
              </a:rPr>
              <a:t>Научно-практический вклад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систематизация AI-внедрений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критерии сравнения технологий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метрики оценки AI-агента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337560" cy="3611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0C274A"/>
                </a:solidFill>
                <a:latin typeface="Arial"/>
              </a:rPr>
              <a:t>Прототип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Spring/Kotlin микросервисы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Kafka event-driven pipeline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Transaction Classifier Agent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Financial Coach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325880"/>
            <a:ext cx="3337560" cy="3611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0C274A"/>
                </a:solidFill>
                <a:latin typeface="Arial"/>
              </a:rPr>
              <a:t>Переносимость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страхование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кредитование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support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C274A"/>
                </a:solidFill>
                <a:latin typeface="Arial"/>
              </a:rPr>
              <a:t>• документооборот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86400"/>
            <a:ext cx="10287000" cy="59436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0C274A"/>
                </a:solidFill>
                <a:latin typeface="Arial"/>
              </a:rPr>
              <a:t>Финальная идея: LLM даёт максимум пользы не как замена всей системы, а как контролируемый агент внутри измеримого бизнес-процесса.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1068</Words>
  <Application>Microsoft Office PowerPoint</Application>
  <PresentationFormat>Широкоэкранный</PresentationFormat>
  <Paragraphs>234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Irunazu Shan</cp:lastModifiedBy>
  <cp:revision>2</cp:revision>
  <dcterms:created xsi:type="dcterms:W3CDTF">2013-01-27T09:14:16Z</dcterms:created>
  <dcterms:modified xsi:type="dcterms:W3CDTF">2026-04-13T18:57:34Z</dcterms:modified>
  <cp:category/>
</cp:coreProperties>
</file>