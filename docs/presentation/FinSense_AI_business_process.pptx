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8046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dirty="0" err="1">
                <a:solidFill>
                  <a:srgbClr val="F5F7FA"/>
                </a:solidFill>
                <a:latin typeface="Arial"/>
              </a:rPr>
              <a:t>FinSense</a:t>
            </a:r>
            <a:endParaRPr sz="5400" b="1" dirty="0">
              <a:solidFill>
                <a:srgbClr val="F5F7FA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2500" b="0" dirty="0">
                <a:solidFill>
                  <a:srgbClr val="2DD4BF"/>
                </a:solidFill>
                <a:latin typeface="Arial"/>
              </a:rPr>
              <a:t>LLM </a:t>
            </a:r>
            <a:r>
              <a:rPr sz="2500" b="0" dirty="0" err="1">
                <a:solidFill>
                  <a:srgbClr val="2DD4BF"/>
                </a:solidFill>
                <a:latin typeface="Arial"/>
              </a:rPr>
              <a:t>как</a:t>
            </a:r>
            <a:r>
              <a:rPr sz="2500" b="0" dirty="0">
                <a:solidFill>
                  <a:srgbClr val="2DD4BF"/>
                </a:solidFill>
                <a:latin typeface="Arial"/>
              </a:rPr>
              <a:t> </a:t>
            </a:r>
            <a:r>
              <a:rPr sz="2500" b="0" dirty="0" err="1">
                <a:solidFill>
                  <a:srgbClr val="2DD4BF"/>
                </a:solidFill>
                <a:latin typeface="Arial"/>
              </a:rPr>
              <a:t>инструмент</a:t>
            </a:r>
            <a:r>
              <a:rPr sz="2500" b="0" dirty="0">
                <a:solidFill>
                  <a:srgbClr val="2DD4BF"/>
                </a:solidFill>
                <a:latin typeface="Arial"/>
              </a:rPr>
              <a:t> </a:t>
            </a:r>
            <a:r>
              <a:rPr sz="2500" b="0" dirty="0" err="1">
                <a:solidFill>
                  <a:srgbClr val="2DD4BF"/>
                </a:solidFill>
                <a:latin typeface="Arial"/>
              </a:rPr>
              <a:t>оптимизации</a:t>
            </a:r>
            <a:r>
              <a:rPr sz="2500" b="0" dirty="0">
                <a:solidFill>
                  <a:srgbClr val="2DD4BF"/>
                </a:solidFill>
                <a:latin typeface="Arial"/>
              </a:rPr>
              <a:t> </a:t>
            </a:r>
            <a:r>
              <a:rPr sz="2500" b="0" dirty="0" err="1">
                <a:solidFill>
                  <a:srgbClr val="2DD4BF"/>
                </a:solidFill>
                <a:latin typeface="Arial"/>
              </a:rPr>
              <a:t>бизнес-процесса</a:t>
            </a:r>
            <a:endParaRPr sz="2500" b="0" dirty="0">
              <a:solidFill>
                <a:srgbClr val="2DD4BF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2606040"/>
            <a:ext cx="3657600" cy="960120"/>
          </a:xfrm>
          <a:prstGeom prst="roundRect">
            <a:avLst/>
          </a:prstGeom>
          <a:solidFill>
            <a:srgbClr val="123B58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A7BED3"/>
                </a:solidFill>
                <a:latin typeface="Arial"/>
              </a:rPr>
              <a:t>10 </a:t>
            </a:r>
            <a:r>
              <a:rPr sz="1600" b="0" dirty="0" err="1">
                <a:solidFill>
                  <a:srgbClr val="A7BED3"/>
                </a:solidFill>
                <a:latin typeface="Arial"/>
              </a:rPr>
              <a:t>минут</a:t>
            </a:r>
            <a:endParaRPr sz="1600" b="0" dirty="0">
              <a:solidFill>
                <a:srgbClr val="A7BED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2200" b="1" dirty="0" err="1">
                <a:solidFill>
                  <a:srgbClr val="F5F7FA"/>
                </a:solidFill>
                <a:latin typeface="Arial"/>
              </a:rPr>
              <a:t>магистерская</a:t>
            </a:r>
            <a:r>
              <a:rPr sz="2200" b="1" dirty="0">
                <a:solidFill>
                  <a:srgbClr val="F5F7FA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F5F7FA"/>
                </a:solidFill>
                <a:latin typeface="Arial"/>
              </a:rPr>
              <a:t>конференция</a:t>
            </a:r>
            <a:endParaRPr sz="2200" b="1" dirty="0">
              <a:solidFill>
                <a:srgbClr val="F5F7F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7720" y="2606040"/>
            <a:ext cx="3749039" cy="96012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Ключевая идея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7FA"/>
                </a:solidFill>
                <a:latin typeface="Arial"/>
              </a:rPr>
              <a:t>LLM усиливает сложные участки процесса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606040"/>
            <a:ext cx="2743200" cy="960120"/>
          </a:xfrm>
          <a:prstGeom prst="roundRect">
            <a:avLst/>
          </a:prstGeom>
          <a:solidFill>
            <a:srgbClr val="17334A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Формат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7FA"/>
                </a:solidFill>
                <a:latin typeface="Arial"/>
              </a:rPr>
              <a:t>синтетический бизнес-кейс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035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7BED3"/>
                </a:solidFill>
                <a:latin typeface="Arial"/>
              </a:rPr>
              <a:t>Демонстрация: классификация транзакций, персональные рекомендации, event-driven архитектура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Проблема бизнеса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474720" cy="29718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DD4BF"/>
                </a:solidFill>
                <a:latin typeface="Arial"/>
              </a:rPr>
              <a:t>Категоризация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правила и MCC не всегда отражают смысл платежа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новые мерчанты и смешанные описания дают ошибки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часть операций уходит в UNDEFINED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74720" cy="29718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9E0B"/>
                </a:solidFill>
                <a:latin typeface="Arial"/>
              </a:rPr>
              <a:t>Рекомендации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часто шаблонные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не используют реальное поведение клиента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трудно объяснить, на каких данных основан совет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08760"/>
            <a:ext cx="3474720" cy="29718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B7185"/>
                </a:solidFill>
                <a:latin typeface="Arial"/>
              </a:rPr>
              <a:t>Операции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ручная проверка стоит дорого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LLM для всех транзакций медленная и дорогая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7FA"/>
                </a:solidFill>
                <a:latin typeface="Arial"/>
              </a:rPr>
              <a:t>• нужен баланс качества, latency и стоимости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83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5F7FA"/>
                </a:solidFill>
                <a:latin typeface="Arial"/>
              </a:rPr>
              <a:t>Задача: повысить качество решений, не превращая каждую операцию в дорогой LLM-вызов.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Идея решения: гибридный AI-пайплайн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926080" cy="12344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7BED3"/>
                </a:solidFill>
                <a:latin typeface="Arial"/>
              </a:rPr>
              <a:t>1. Быстрый слой</a:t>
            </a:r>
          </a:p>
          <a:p>
            <a:pPr algn="l">
              <a:spcAft>
                <a:spcPts val="400"/>
              </a:spcAft>
            </a:pPr>
            <a:r>
              <a:rPr sz="2300" b="1">
                <a:solidFill>
                  <a:srgbClr val="F5F7FA"/>
                </a:solidFill>
                <a:latin typeface="Arial"/>
              </a:rPr>
              <a:t>Rule/ML-first классификация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&lt; 50 мс для типовых операций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03320" y="2167128"/>
            <a:ext cx="731520" cy="0"/>
          </a:xfrm>
          <a:prstGeom prst="line">
            <a:avLst/>
          </a:prstGeom>
          <a:ln w="29209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1554480"/>
            <a:ext cx="2971800" cy="1234440"/>
          </a:xfrm>
          <a:prstGeom prst="roundRect">
            <a:avLst/>
          </a:prstGeom>
          <a:solidFill>
            <a:srgbClr val="123B58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7BED3"/>
                </a:solidFill>
                <a:latin typeface="Arial"/>
              </a:rPr>
              <a:t>2. Confidence gate</a:t>
            </a:r>
          </a:p>
          <a:p>
            <a:pPr algn="l">
              <a:spcAft>
                <a:spcPts val="400"/>
              </a:spcAft>
            </a:pPr>
            <a:r>
              <a:rPr sz="2300" b="1">
                <a:solidFill>
                  <a:srgbClr val="F5F7FA"/>
                </a:solidFill>
                <a:latin typeface="Arial"/>
              </a:rPr>
              <a:t>Порог уверенности 0.9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только сложные случаи идут дальше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167128"/>
            <a:ext cx="731520" cy="0"/>
          </a:xfrm>
          <a:prstGeom prst="line">
            <a:avLst/>
          </a:prstGeom>
          <a:ln w="29209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58200" y="1554480"/>
            <a:ext cx="2971800" cy="12344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7BED3"/>
                </a:solidFill>
                <a:latin typeface="Arial"/>
              </a:rPr>
              <a:t>3. LLM fallback</a:t>
            </a:r>
          </a:p>
          <a:p>
            <a:pPr algn="l">
              <a:spcAft>
                <a:spcPts val="400"/>
              </a:spcAft>
            </a:pPr>
            <a:r>
              <a:rPr sz="2300" b="1">
                <a:solidFill>
                  <a:srgbClr val="F5F7FA"/>
                </a:solidFill>
                <a:latin typeface="Arial"/>
              </a:rPr>
              <a:t>Контекстная классификация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история + описание + merchant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977639"/>
            <a:ext cx="4800600" cy="1234440"/>
          </a:xfrm>
          <a:prstGeom prst="roundRect">
            <a:avLst/>
          </a:prstGeom>
          <a:solidFill>
            <a:srgbClr val="102F46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F7FA"/>
                </a:solidFill>
                <a:latin typeface="Arial"/>
              </a:rPr>
              <a:t>Financial Coach Agent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A7BED3"/>
                </a:solidFill>
                <a:latin typeface="Arial"/>
              </a:rPr>
              <a:t>LLM формирует рекомендации на основе инструментов анализа расходов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77639"/>
            <a:ext cx="4800600" cy="1234440"/>
          </a:xfrm>
          <a:prstGeom prst="roundRect">
            <a:avLst/>
          </a:prstGeom>
          <a:solidFill>
            <a:srgbClr val="102F46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F7FA"/>
                </a:solidFill>
                <a:latin typeface="Arial"/>
              </a:rPr>
              <a:t>Kafka + Postgres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A7BED3"/>
                </a:solidFill>
                <a:latin typeface="Arial"/>
              </a:rPr>
              <a:t>тяжёлые операции асинхронны, результат сохраняется и доступен через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Архитектура FinSense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331720" cy="1005840"/>
          </a:xfrm>
          <a:prstGeom prst="roundRect">
            <a:avLst/>
          </a:prstGeom>
          <a:solidFill>
            <a:srgbClr val="123B58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Core Service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7BED3"/>
                </a:solidFill>
                <a:latin typeface="Arial"/>
              </a:rPr>
              <a:t>оркестратор, REST API, доменная модель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34440"/>
            <a:ext cx="23317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Classifier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7BED3"/>
                </a:solidFill>
                <a:latin typeface="Arial"/>
              </a:rPr>
              <a:t>быстрая rule/ML классификация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23317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LLM Classifier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7BED3"/>
                </a:solidFill>
                <a:latin typeface="Arial"/>
              </a:rPr>
              <a:t>fallback для неуверенных транзакций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234440"/>
            <a:ext cx="23317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Coach Agent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7BED3"/>
                </a:solidFill>
                <a:latin typeface="Arial"/>
              </a:rPr>
              <a:t>персональные советы по расходам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154680"/>
            <a:ext cx="4206240" cy="1234440"/>
          </a:xfrm>
          <a:prstGeom prst="roundRect">
            <a:avLst/>
          </a:prstGeom>
          <a:solidFill>
            <a:srgbClr val="08253B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2DD4BF"/>
                </a:solidFill>
                <a:latin typeface="Arial"/>
              </a:rPr>
              <a:t>Kafka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raw-transactions, llm-classifier-requests/responses, coach-requests/responses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154680"/>
            <a:ext cx="4206240" cy="1234440"/>
          </a:xfrm>
          <a:prstGeom prst="roundRect">
            <a:avLst/>
          </a:prstGeom>
          <a:solidFill>
            <a:srgbClr val="08253B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Arial"/>
              </a:rPr>
              <a:t>PostgreSQL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транзакции, статусы, рекомендации, JSONB с AI-метаданными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F7FA"/>
                </a:solidFill>
                <a:latin typeface="Arial"/>
              </a:rPr>
              <a:t>LLM вынесена в отдельные event-driven компоненты и может масштабироваться независимо.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Поток классификации транзакции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011680" cy="9144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Arial"/>
              </a:rPr>
              <a:t>1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raw 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011680" cy="9144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Arial"/>
              </a:rPr>
              <a:t>2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Core сохраняет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2011680" cy="9144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Arial"/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08760"/>
            <a:ext cx="2011680" cy="9144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DD4BF"/>
                </a:solidFill>
                <a:latin typeface="Arial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confidence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1965960"/>
            <a:ext cx="594360" cy="0"/>
          </a:xfrm>
          <a:prstGeom prst="line">
            <a:avLst/>
          </a:prstGeom>
          <a:ln w="29209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1965960"/>
            <a:ext cx="594360" cy="0"/>
          </a:xfrm>
          <a:prstGeom prst="line">
            <a:avLst/>
          </a:prstGeom>
          <a:ln w="29209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75320" y="1965960"/>
            <a:ext cx="594360" cy="0"/>
          </a:xfrm>
          <a:prstGeom prst="line">
            <a:avLst/>
          </a:prstGeom>
          <a:ln w="29209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51560" y="3657600"/>
            <a:ext cx="4663440" cy="1143000"/>
          </a:xfrm>
          <a:prstGeom prst="roundRect">
            <a:avLst/>
          </a:prstGeom>
          <a:solidFill>
            <a:srgbClr val="0E352E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2C55E"/>
                </a:solidFill>
                <a:latin typeface="Arial"/>
              </a:rPr>
              <a:t>Если confidence &gt;= 0.9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транзакция сразу получает статус CLASSIFIED, источник ML/RULE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657600"/>
            <a:ext cx="4663440" cy="1143000"/>
          </a:xfrm>
          <a:prstGeom prst="roundRect">
            <a:avLst/>
          </a:prstGeom>
          <a:solidFill>
            <a:srgbClr val="3A2B0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59E0B"/>
                </a:solidFill>
                <a:latin typeface="Arial"/>
              </a:rPr>
              <a:t>Если confidence &lt; 0.9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Core публикует событие в llm-classifier-requests и ждёт ответ агента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>
                <a:solidFill>
                  <a:srgbClr val="A7BED3"/>
                </a:solidFill>
                <a:latin typeface="Arial"/>
              </a:rPr>
              <a:t>Состояния в БД: ML_CLASSIFYING → LLM_CLASSIFYING → CLASSIFIED / FAILED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Как LLM улучшает процесс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3429000"/>
          </a:xfrm>
          <a:prstGeom prst="roundRect">
            <a:avLst/>
          </a:prstGeom>
          <a:solidFill>
            <a:srgbClr val="331827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B7185"/>
                </a:solidFill>
                <a:latin typeface="Arial"/>
              </a:rPr>
              <a:t>До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неоднозначные описания попадают в UNDEFINED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ошибки MCC и keyword-правил остаются финальными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оператор вручную разбирает спорные случаи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83280" cy="3429000"/>
          </a:xfrm>
          <a:prstGeom prst="roundRect">
            <a:avLst/>
          </a:prstGeom>
          <a:solidFill>
            <a:srgbClr val="11352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22C55E"/>
                </a:solidFill>
                <a:latin typeface="Arial"/>
              </a:rPr>
              <a:t>После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LLM видит текущую операцию и историю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возвращает строго допустимую категорию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даёт confidence и короткое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383280" cy="342900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2DD4BF"/>
                </a:solidFill>
                <a:latin typeface="Arial"/>
              </a:rPr>
              <a:t>Оптимизация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LLM вызывается только для 5-10% сложных операций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основной поток остаётся быстрым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• затраты контролируются threshold-порогом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5F7FA"/>
                </a:solidFill>
                <a:latin typeface="Arial"/>
              </a:rPr>
              <a:t>Главная ценность: LLM закрывает «серую зону» правил, но не становится узким местом всей системы.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Financial Coach Agent: рекомендации на фактах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514600" cy="12344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A7BED3"/>
                </a:solidFill>
                <a:latin typeface="Arial"/>
              </a:rPr>
              <a:t>Tool 1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Spending by category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структура расходов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12344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A7BED3"/>
                </a:solidFill>
                <a:latin typeface="Arial"/>
              </a:rPr>
              <a:t>Tool 2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Monthly delta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рост/снижение по периодам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2514600" cy="12344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A7BED3"/>
                </a:solidFill>
                <a:latin typeface="Arial"/>
              </a:rPr>
              <a:t>Tool 3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Top merchants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главные источники трат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71600"/>
            <a:ext cx="2514600" cy="12344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A7BED3"/>
                </a:solidFill>
                <a:latin typeface="Arial"/>
              </a:rPr>
              <a:t>Tool 4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Spikes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D4BF"/>
                </a:solidFill>
                <a:latin typeface="Arial"/>
              </a:rPr>
              <a:t>аномальные всплески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749039"/>
            <a:ext cx="4663440" cy="1325880"/>
          </a:xfrm>
          <a:prstGeom prst="roundRect">
            <a:avLst/>
          </a:prstGeom>
          <a:solidFill>
            <a:srgbClr val="3A2B0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9E0B"/>
                </a:solidFill>
                <a:latin typeface="Arial"/>
              </a:rPr>
              <a:t>Детерминированная часть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SQL-агрегации дают LLM проверяемые факты: суммы, категории, мерчантов, даты.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749039"/>
            <a:ext cx="4663440" cy="1325880"/>
          </a:xfrm>
          <a:prstGeom prst="roundRect">
            <a:avLst/>
          </a:prstGeom>
          <a:solidFill>
            <a:srgbClr val="0E353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DD4BF"/>
                </a:solidFill>
                <a:latin typeface="Arial"/>
              </a:rPr>
              <a:t>Генеративная часть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5F7FA"/>
                </a:solidFill>
                <a:latin typeface="Arial"/>
              </a:rPr>
              <a:t>LLM превращает факты в понятный пользователю совет на русском языке.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Метрики эффекта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7BED3"/>
                </a:solidFill>
                <a:latin typeface="Arial"/>
              </a:rPr>
              <a:t>пилотная оценка MVP на синтетических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7889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Точность</a:t>
            </a:r>
          </a:p>
          <a:p>
            <a:pPr algn="l">
              <a:spcAft>
                <a:spcPts val="400"/>
              </a:spcAft>
            </a:pPr>
            <a:r>
              <a:rPr sz="2900" b="1">
                <a:solidFill>
                  <a:srgbClr val="22C55E"/>
                </a:solidFill>
                <a:latin typeface="Arial"/>
              </a:rPr>
              <a:t>85-90% → 95%+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7FA"/>
                </a:solidFill>
                <a:latin typeface="Arial"/>
              </a:rPr>
              <a:t>rule-only → hybrid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417320"/>
            <a:ext cx="27889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LLM fallback</a:t>
            </a:r>
          </a:p>
          <a:p>
            <a:pPr algn="l">
              <a:spcAft>
                <a:spcPts val="400"/>
              </a:spcAft>
            </a:pPr>
            <a:r>
              <a:rPr sz="2900" b="1">
                <a:solidFill>
                  <a:srgbClr val="2DD4BF"/>
                </a:solidFill>
                <a:latin typeface="Arial"/>
              </a:rPr>
              <a:t>5-10%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7FA"/>
                </a:solidFill>
                <a:latin typeface="Arial"/>
              </a:rPr>
              <a:t>только сложные случаи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17320"/>
            <a:ext cx="214884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Manual review</a:t>
            </a:r>
          </a:p>
          <a:p>
            <a:pPr algn="l">
              <a:spcAft>
                <a:spcPts val="400"/>
              </a:spcAft>
            </a:pPr>
            <a:r>
              <a:rPr sz="2900" b="1">
                <a:solidFill>
                  <a:srgbClr val="22C55E"/>
                </a:solidFill>
                <a:latin typeface="Arial"/>
              </a:rPr>
              <a:t>&gt;5% → &lt;1%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7FA"/>
                </a:solidFill>
                <a:latin typeface="Arial"/>
              </a:rPr>
              <a:t>меньше UNDEFINED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417320"/>
            <a:ext cx="214884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Latency p95</a:t>
            </a:r>
          </a:p>
          <a:p>
            <a:pPr algn="l">
              <a:spcAft>
                <a:spcPts val="400"/>
              </a:spcAft>
            </a:pPr>
            <a:r>
              <a:rPr sz="2900" b="1">
                <a:solidFill>
                  <a:srgbClr val="F59E0B"/>
                </a:solidFill>
                <a:latin typeface="Arial"/>
              </a:rPr>
              <a:t>&lt;2 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7FA"/>
                </a:solidFill>
                <a:latin typeface="Arial"/>
              </a:rPr>
              <a:t>с учётом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27889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Стоимость</a:t>
            </a:r>
          </a:p>
          <a:p>
            <a:pPr algn="l">
              <a:spcAft>
                <a:spcPts val="400"/>
              </a:spcAft>
            </a:pPr>
            <a:r>
              <a:rPr sz="2900" b="1">
                <a:solidFill>
                  <a:srgbClr val="F59E0B"/>
                </a:solidFill>
                <a:latin typeface="Arial"/>
              </a:rPr>
              <a:t>+10-15%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7FA"/>
                </a:solidFill>
                <a:latin typeface="Arial"/>
              </a:rPr>
              <a:t>не +100%, потому что LLM не для всех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063240"/>
            <a:ext cx="278892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Рекомендации</a:t>
            </a:r>
          </a:p>
          <a:p>
            <a:pPr algn="l">
              <a:spcAft>
                <a:spcPts val="400"/>
              </a:spcAft>
            </a:pPr>
            <a:r>
              <a:rPr sz="2900" b="1">
                <a:solidFill>
                  <a:srgbClr val="22C55E"/>
                </a:solidFill>
                <a:latin typeface="Arial"/>
              </a:rPr>
              <a:t>80%+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5F7FA"/>
                </a:solidFill>
                <a:latin typeface="Arial"/>
              </a:rPr>
              <a:t>целевой positive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063240"/>
            <a:ext cx="4526280" cy="100584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7BED3"/>
                </a:solidFill>
                <a:latin typeface="Arial"/>
              </a:rPr>
              <a:t>Наблюдаемость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F5F7FA"/>
                </a:solidFill>
                <a:latin typeface="Arial"/>
              </a:rPr>
              <a:t>requestId, transactionId, tokens, latency, model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DD4BF"/>
                </a:solidFill>
                <a:latin typeface="Arial"/>
              </a:rPr>
              <a:t>аудит AI-решений и воспроизводимость анализа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10378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A7BED3"/>
                </a:solidFill>
                <a:latin typeface="Arial"/>
              </a:rPr>
              <a:t>Метрики нужно валидировать на размеченном наборе: базовый rule-only прогон, затем гибридный прогон с LLM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9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Arial"/>
              </a:rPr>
              <a:t>Итог: синтетический кейс, переносимый подход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74920" cy="1371600"/>
          </a:xfrm>
          <a:prstGeom prst="roundRect">
            <a:avLst/>
          </a:prstGeom>
          <a:solidFill>
            <a:srgbClr val="3A2B0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9E0B"/>
                </a:solidFill>
                <a:latin typeface="Arial"/>
              </a:rPr>
              <a:t>Важно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F5F7FA"/>
                </a:solidFill>
                <a:latin typeface="Arial"/>
              </a:rPr>
              <a:t>FinSense — синтетический бизнес-кейс, реализованный специально для демонстрации внедрения ИИ в backend-бизнес-процесс.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074920" cy="1371600"/>
          </a:xfrm>
          <a:prstGeom prst="roundRect">
            <a:avLst/>
          </a:prstGeom>
          <a:solidFill>
            <a:srgbClr val="0E353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DD4BF"/>
                </a:solidFill>
                <a:latin typeface="Arial"/>
              </a:rPr>
              <a:t>Обобщение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F5F7FA"/>
                </a:solidFill>
                <a:latin typeface="Arial"/>
              </a:rPr>
              <a:t>Паттерн переносим: быстрый детерминированный слой + LLM для сложных случаев + аудит + асинхронная обработка.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2560320" cy="141732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Страхование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7BED3"/>
                </a:solidFill>
                <a:latin typeface="Arial"/>
              </a:rPr>
              <a:t>первичная обработка заявлений и документов по страховым случаям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063240"/>
            <a:ext cx="2560320" cy="141732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Кредитование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7BED3"/>
                </a:solidFill>
                <a:latin typeface="Arial"/>
              </a:rPr>
              <a:t>предварительный анализ кредитной заявки и объяснение отказов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063240"/>
            <a:ext cx="2560320" cy="141732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Support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7BED3"/>
                </a:solidFill>
                <a:latin typeface="Arial"/>
              </a:rPr>
              <a:t>маршрутизация обращений, приоритизация и подготовка ответа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3063240"/>
            <a:ext cx="2011680" cy="1417320"/>
          </a:xfrm>
          <a:prstGeom prst="roundRect">
            <a:avLst/>
          </a:prstGeom>
          <a:solidFill>
            <a:srgbClr val="0D2A42"/>
          </a:solidFill>
          <a:ln w="15240">
            <a:solidFill>
              <a:srgbClr val="1F5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Документы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7BED3"/>
                </a:solidFill>
                <a:latin typeface="Arial"/>
              </a:rPr>
              <a:t>анализ договоров, счетов, актов и первички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Arial"/>
              </a:rPr>
              <a:t>Вывод: LLM даёт максимальный эффект там, где есть неоднозначность, контекст и высокая стоимость ручного решения.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610</Words>
  <Application>Microsoft Office PowerPoint</Application>
  <PresentationFormat>Широкоэкранный</PresentationFormat>
  <Paragraphs>134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Irunazu Shan</cp:lastModifiedBy>
  <cp:revision>2</cp:revision>
  <dcterms:created xsi:type="dcterms:W3CDTF">2013-01-27T09:14:16Z</dcterms:created>
  <dcterms:modified xsi:type="dcterms:W3CDTF">2026-04-13T15:42:48Z</dcterms:modified>
  <cp:category/>
</cp:coreProperties>
</file>